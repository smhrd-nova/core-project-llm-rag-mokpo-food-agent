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905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1.jpg"/><Relationship Id="rId4" Type="http://schemas.openxmlformats.org/officeDocument/2006/relationships/image" Target="../media/image7.jpg"/><Relationship Id="rId5" Type="http://schemas.openxmlformats.org/officeDocument/2006/relationships/image" Target="../media/image8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5695" cy="6858000"/>
          </a:xfrm>
          <a:prstGeom prst="rect">
            <a:avLst/>
          </a:prstGeom>
          <a:solidFill>
            <a:srgbClr val="F2E9D8"/>
          </a:solidFill>
          <a:ln>
            <a:solidFill>
              <a:srgbClr val="F2E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4630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2B4D72"/>
                </a:solidFill>
                <a:latin typeface="Arial"/>
              </a:rPr>
              <a:t>TEAM NOVA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475488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400" b="1">
                <a:solidFill>
                  <a:srgbClr val="17304A"/>
                </a:solidFill>
                <a:latin typeface="Arial"/>
              </a:rPr>
              <a:t>목포 뭐 하지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07408" y="1325880"/>
            <a:ext cx="5029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400" b="1">
                <a:solidFill>
                  <a:srgbClr val="FF6B5E"/>
                </a:solidFill>
                <a:latin typeface="Arial"/>
              </a:rPr>
              <a:t>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48840"/>
            <a:ext cx="41148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100" b="1">
                <a:solidFill>
                  <a:srgbClr val="2B4D72"/>
                </a:solidFill>
                <a:latin typeface="Arial"/>
              </a:rPr>
              <a:t>프로토타입 기반 화면설계서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88920"/>
            <a:ext cx="448056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667064"/>
                </a:solidFill>
                <a:latin typeface="Arial"/>
              </a:rPr>
              <a:t>요구사항 정의서 · 기획서 · 실제 HTML Prototype을
기준으로 화면/기능을 다시 정합화한 버전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30752"/>
            <a:ext cx="1508760" cy="384048"/>
          </a:xfrm>
          <a:prstGeom prst="round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3730752"/>
            <a:ext cx="1399031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FFDF8"/>
                </a:solidFill>
                <a:latin typeface="Arial"/>
              </a:rPr>
              <a:t>PROTOTYPE 반영본</a:t>
            </a:r>
          </a:p>
        </p:txBody>
      </p:sp>
      <p:pic>
        <p:nvPicPr>
          <p:cNvPr id="10" name="Picture 9" descr="cit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777240"/>
            <a:ext cx="3840480" cy="2240280"/>
          </a:xfrm>
          <a:prstGeom prst="rect">
            <a:avLst/>
          </a:prstGeom>
        </p:spPr>
      </p:pic>
      <p:pic>
        <p:nvPicPr>
          <p:cNvPr id="11" name="Picture 10" descr="mongpori-main-conce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2240280"/>
            <a:ext cx="3291840" cy="25603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31520" y="4892040"/>
            <a:ext cx="8412480" cy="822960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5102352"/>
            <a:ext cx="9144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2B4D72"/>
                </a:solidFill>
                <a:latin typeface="Arial"/>
              </a:rPr>
              <a:t>핵심 흐름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5056632"/>
            <a:ext cx="69037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19" b="1">
                <a:solidFill>
                  <a:srgbClr val="17304A"/>
                </a:solidFill>
                <a:latin typeface="Arial"/>
              </a:rPr>
              <a:t>여행 조건 → 취향 발견 → 몽포리 대화 → 여행 테마 → 장소 선택 → 코스 완성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144768"/>
            <a:ext cx="841248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50" b="0">
                <a:solidFill>
                  <a:srgbClr val="667064"/>
                </a:solidFill>
                <a:latin typeface="Arial"/>
              </a:rPr>
              <a:t>2026. 08. 31  ·  팀명 NOVA  ·  팀장 박근영  ·  팀원 김다은 / 조하은 / 이은주 / 김보미 / 이순덕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411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F6B5E"/>
                </a:solidFill>
                <a:latin typeface="Arial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201168"/>
            <a:ext cx="4114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100" b="1">
                <a:solidFill>
                  <a:srgbClr val="17304A"/>
                </a:solidFill>
                <a:latin typeface="Arial"/>
              </a:rPr>
              <a:t>변경이력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246888"/>
            <a:ext cx="356616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2B4D72"/>
                </a:solidFill>
                <a:latin typeface="Arial"/>
              </a:rPr>
              <a:t>VERSION  ·  -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80467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667064"/>
                </a:solidFill>
                <a:latin typeface="Arial"/>
              </a:rPr>
              <a:t>프로토타입 반영으로 기존 화면설계서와 실제 구현 화면의 차이를 정리했습니다.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33271"/>
            <a:ext cx="8915400" cy="13716"/>
          </a:xfrm>
          <a:prstGeom prst="rect">
            <a:avLst/>
          </a:prstGeom>
          <a:solidFill>
            <a:srgbClr val="D8C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98448"/>
            <a:ext cx="731520" cy="411480"/>
          </a:xfrm>
          <a:prstGeom prst="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98448"/>
            <a:ext cx="7315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FFDF8"/>
                </a:solidFill>
                <a:latin typeface="Arial"/>
              </a:rPr>
              <a:t>버전</a:t>
            </a:r>
          </a:p>
        </p:txBody>
      </p:sp>
      <p:sp>
        <p:nvSpPr>
          <p:cNvPr id="9" name="Rectangle 8"/>
          <p:cNvSpPr/>
          <p:nvPr/>
        </p:nvSpPr>
        <p:spPr>
          <a:xfrm>
            <a:off x="1325880" y="1298448"/>
            <a:ext cx="1143000" cy="411480"/>
          </a:xfrm>
          <a:prstGeom prst="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1298448"/>
            <a:ext cx="11430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FFDF8"/>
                </a:solidFill>
                <a:latin typeface="Arial"/>
              </a:rPr>
              <a:t>작성일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8880" y="1298448"/>
            <a:ext cx="4754880" cy="411480"/>
          </a:xfrm>
          <a:prstGeom prst="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1298448"/>
            <a:ext cx="47548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FFDF8"/>
                </a:solidFill>
                <a:latin typeface="Arial"/>
              </a:rPr>
              <a:t>수정사항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23760" y="1298448"/>
            <a:ext cx="1097280" cy="411480"/>
          </a:xfrm>
          <a:prstGeom prst="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0" y="1298448"/>
            <a:ext cx="10972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FFDF8"/>
                </a:solidFill>
                <a:latin typeface="Arial"/>
              </a:rPr>
              <a:t>작성자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1298448"/>
            <a:ext cx="1097280" cy="411480"/>
          </a:xfrm>
          <a:prstGeom prst="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298448"/>
            <a:ext cx="10972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FFDF8"/>
                </a:solidFill>
                <a:latin typeface="Arial"/>
              </a:rPr>
              <a:t>검수자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1709928"/>
            <a:ext cx="731520" cy="566928"/>
          </a:xfrm>
          <a:prstGeom prst="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1709928"/>
            <a:ext cx="64008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30" b="1">
                <a:solidFill>
                  <a:srgbClr val="17304A"/>
                </a:solidFill>
                <a:latin typeface="Arial"/>
              </a:rPr>
              <a:t>0.1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25880" y="1709928"/>
            <a:ext cx="1143000" cy="566928"/>
          </a:xfrm>
          <a:prstGeom prst="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1709928"/>
            <a:ext cx="105156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30" b="0">
                <a:solidFill>
                  <a:srgbClr val="17304A"/>
                </a:solidFill>
                <a:latin typeface="Arial"/>
              </a:rPr>
              <a:t>2026. 08. 31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68880" y="1709928"/>
            <a:ext cx="4754880" cy="566928"/>
          </a:xfrm>
          <a:prstGeom prst="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1709928"/>
            <a:ext cx="466344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30" b="0">
                <a:solidFill>
                  <a:srgbClr val="17304A"/>
                </a:solidFill>
                <a:latin typeface="Arial"/>
              </a:rPr>
              <a:t>요구사항·기획서 기반 1차 화면설계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23760" y="1709928"/>
            <a:ext cx="1097280" cy="566928"/>
          </a:xfrm>
          <a:prstGeom prst="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69480" y="1709928"/>
            <a:ext cx="1005839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30" b="0">
                <a:solidFill>
                  <a:srgbClr val="17304A"/>
                </a:solidFill>
                <a:latin typeface="Arial"/>
              </a:rPr>
              <a:t>박근영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21040" y="1709928"/>
            <a:ext cx="1097280" cy="566928"/>
          </a:xfrm>
          <a:prstGeom prst="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60" y="1709928"/>
            <a:ext cx="1005839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30" b="0">
                <a:solidFill>
                  <a:srgbClr val="17304A"/>
                </a:solidFill>
                <a:latin typeface="Arial"/>
              </a:rPr>
              <a:t>NOVA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2276856"/>
            <a:ext cx="731520" cy="566928"/>
          </a:xfrm>
          <a:prstGeom prst="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2276856"/>
            <a:ext cx="64008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30" b="1">
                <a:solidFill>
                  <a:srgbClr val="17304A"/>
                </a:solidFill>
                <a:latin typeface="Arial"/>
              </a:rPr>
              <a:t>0.2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25880" y="2276856"/>
            <a:ext cx="1143000" cy="566928"/>
          </a:xfrm>
          <a:prstGeom prst="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71600" y="2276856"/>
            <a:ext cx="105156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30" b="0">
                <a:solidFill>
                  <a:srgbClr val="17304A"/>
                </a:solidFill>
                <a:latin typeface="Arial"/>
              </a:rPr>
              <a:t>2026. 08. 31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68880" y="2276856"/>
            <a:ext cx="4754880" cy="566928"/>
          </a:xfrm>
          <a:prstGeom prst="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14600" y="2276856"/>
            <a:ext cx="466344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30" b="0">
                <a:solidFill>
                  <a:srgbClr val="17304A"/>
                </a:solidFill>
                <a:latin typeface="Arial"/>
              </a:rPr>
              <a:t>실제 Prototype_1.html의 화면 구조·메뉴·문구·기능 반영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23760" y="2276856"/>
            <a:ext cx="1097280" cy="566928"/>
          </a:xfrm>
          <a:prstGeom prst="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69480" y="2276856"/>
            <a:ext cx="1005839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30" b="0">
                <a:solidFill>
                  <a:srgbClr val="17304A"/>
                </a:solidFill>
                <a:latin typeface="Arial"/>
              </a:rPr>
              <a:t>NOVA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21040" y="2276856"/>
            <a:ext cx="1097280" cy="566928"/>
          </a:xfrm>
          <a:prstGeom prst="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66760" y="2276856"/>
            <a:ext cx="1005839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30" b="0">
                <a:solidFill>
                  <a:srgbClr val="17304A"/>
                </a:solidFill>
                <a:latin typeface="Arial"/>
              </a:rPr>
              <a:t>NOVA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2843784"/>
            <a:ext cx="731520" cy="566928"/>
          </a:xfrm>
          <a:prstGeom prst="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2843784"/>
            <a:ext cx="64008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30" b="1">
                <a:solidFill>
                  <a:srgbClr val="17304A"/>
                </a:solidFill>
                <a:latin typeface="Arial"/>
              </a:rPr>
              <a:t>0.3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325880" y="2843784"/>
            <a:ext cx="1143000" cy="566928"/>
          </a:xfrm>
          <a:prstGeom prst="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371600" y="2843784"/>
            <a:ext cx="105156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30" b="0">
                <a:solidFill>
                  <a:srgbClr val="17304A"/>
                </a:solidFill>
                <a:latin typeface="Arial"/>
              </a:rPr>
              <a:t>2026. 08. 31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468880" y="2843784"/>
            <a:ext cx="4754880" cy="566928"/>
          </a:xfrm>
          <a:prstGeom prst="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14600" y="2843784"/>
            <a:ext cx="466344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30" b="0">
                <a:solidFill>
                  <a:srgbClr val="17304A"/>
                </a:solidFill>
                <a:latin typeface="Arial"/>
              </a:rPr>
              <a:t>Prototype 최종 polish 상태(에디토리얼 홈/취향/테마/UGC/미션) 기준으로 재정합화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23760" y="2843784"/>
            <a:ext cx="1097280" cy="566928"/>
          </a:xfrm>
          <a:prstGeom prst="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69480" y="2843784"/>
            <a:ext cx="1005839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30" b="0">
                <a:solidFill>
                  <a:srgbClr val="17304A"/>
                </a:solidFill>
                <a:latin typeface="Arial"/>
              </a:rPr>
              <a:t>NOVA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21040" y="2843784"/>
            <a:ext cx="1097280" cy="566928"/>
          </a:xfrm>
          <a:prstGeom prst="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66760" y="2843784"/>
            <a:ext cx="1005839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30" b="0">
                <a:solidFill>
                  <a:srgbClr val="17304A"/>
                </a:solidFill>
                <a:latin typeface="Arial"/>
              </a:rPr>
              <a:t>NOVA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4360" y="3657600"/>
            <a:ext cx="8412480" cy="914400"/>
          </a:xfrm>
          <a:prstGeom prst="roundRect">
            <a:avLst/>
          </a:prstGeom>
          <a:solidFill>
            <a:srgbClr val="F7F3EA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2960" y="3858768"/>
            <a:ext cx="5943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FF6B5E"/>
                </a:solidFill>
                <a:latin typeface="Arial"/>
              </a:rPr>
              <a:t>중요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63040" y="3767328"/>
            <a:ext cx="704088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17304A"/>
                </a:solidFill>
                <a:latin typeface="Arial"/>
              </a:rPr>
              <a:t>기존 화면설계서의 ‘AI_01 자연어 입력 → AI_02 조건 분석’ 구조는 실제 Prototype의 핵심 흐름과 달라졌습니다.
Prototype에서는 선택형 Context → 취향 선택 → 몽포리 대화 → 테마 → 장소 선택 → 코스 완성으로 구현되어 있어 이를 기준으로 수정했습니다.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32320" y="6510528"/>
            <a:ext cx="22860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750" b="0">
                <a:solidFill>
                  <a:srgbClr val="667064"/>
                </a:solidFill>
                <a:latin typeface="Arial"/>
              </a:rPr>
              <a:t>NOVA · 화면설계서 ·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411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F6B5E"/>
                </a:solidFill>
                <a:latin typeface="Arial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201168"/>
            <a:ext cx="4114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100" b="1">
                <a:solidFill>
                  <a:srgbClr val="17304A"/>
                </a:solidFill>
                <a:latin typeface="Arial"/>
              </a:rPr>
              <a:t>메뉴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246888"/>
            <a:ext cx="356616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2B4D72"/>
                </a:solidFill>
                <a:latin typeface="Arial"/>
              </a:rPr>
              <a:t>NAV  ·  -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80467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667064"/>
                </a:solidFill>
                <a:latin typeface="Arial"/>
              </a:rPr>
              <a:t>실제 Prototype_1.html의 상단 메뉴와 모바일 메뉴를 기준으로 구성합니다.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33271"/>
            <a:ext cx="8915400" cy="13716"/>
          </a:xfrm>
          <a:prstGeom prst="rect">
            <a:avLst/>
          </a:prstGeom>
          <a:solidFill>
            <a:srgbClr val="D8C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1920240" cy="822960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453895"/>
            <a:ext cx="118872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B4D72"/>
                </a:solidFill>
                <a:latin typeface="Arial"/>
              </a:rPr>
              <a:t>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84248" y="1435607"/>
            <a:ext cx="365760" cy="201168"/>
          </a:xfrm>
          <a:prstGeom prst="roundRect">
            <a:avLst/>
          </a:prstGeom>
          <a:solidFill>
            <a:srgbClr val="E9E1CE"/>
          </a:solidFill>
          <a:ln>
            <a:solidFill>
              <a:srgbClr val="E9E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39112" y="1435607"/>
            <a:ext cx="256032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00" b="1">
                <a:solidFill>
                  <a:srgbClr val="2B4D72"/>
                </a:solidFill>
                <a:latin typeface="Arial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1755648"/>
            <a:ext cx="16916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20" b="0">
                <a:solidFill>
                  <a:srgbClr val="667064"/>
                </a:solidFill>
                <a:latin typeface="Arial"/>
              </a:rPr>
              <a:t>목포 뭐 하지?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1325880"/>
            <a:ext cx="1920240" cy="822960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52928" y="1453895"/>
            <a:ext cx="118872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B4D72"/>
                </a:solidFill>
                <a:latin typeface="Arial"/>
              </a:rPr>
              <a:t>여행 만들기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33087" y="1435607"/>
            <a:ext cx="365760" cy="201168"/>
          </a:xfrm>
          <a:prstGeom prst="roundRect">
            <a:avLst/>
          </a:prstGeom>
          <a:solidFill>
            <a:srgbClr val="E9E1CE"/>
          </a:solidFill>
          <a:ln>
            <a:solidFill>
              <a:srgbClr val="E9E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87951" y="1435607"/>
            <a:ext cx="256032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00" b="1">
                <a:solidFill>
                  <a:srgbClr val="2B4D72"/>
                </a:solidFill>
                <a:latin typeface="Arial"/>
              </a:rPr>
              <a:t>1~7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52928" y="1755648"/>
            <a:ext cx="16916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20" b="0">
                <a:solidFill>
                  <a:srgbClr val="667064"/>
                </a:solidFill>
                <a:latin typeface="Arial"/>
              </a:rPr>
              <a:t>조건→취향→대화→테마→장소→코스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92040" y="1325880"/>
            <a:ext cx="1920240" cy="822960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1768" y="1453895"/>
            <a:ext cx="118872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B4D72"/>
                </a:solidFill>
                <a:latin typeface="Arial"/>
              </a:rPr>
              <a:t>목포 탐색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81928" y="1435607"/>
            <a:ext cx="365760" cy="201168"/>
          </a:xfrm>
          <a:prstGeom prst="roundRect">
            <a:avLst/>
          </a:prstGeom>
          <a:solidFill>
            <a:srgbClr val="E9E1CE"/>
          </a:solidFill>
          <a:ln>
            <a:solidFill>
              <a:srgbClr val="E9E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1435607"/>
            <a:ext cx="256032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00" b="1">
                <a:solidFill>
                  <a:srgbClr val="2B4D72"/>
                </a:solidFill>
                <a:latin typeface="Arial"/>
              </a:rP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01768" y="1755648"/>
            <a:ext cx="16916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20" b="0">
                <a:solidFill>
                  <a:srgbClr val="667064"/>
                </a:solidFill>
                <a:latin typeface="Arial"/>
              </a:rPr>
              <a:t>카테고리 직접 탐색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40880" y="1325880"/>
            <a:ext cx="1920240" cy="822960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50608" y="1453895"/>
            <a:ext cx="118872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B4D72"/>
                </a:solidFill>
                <a:latin typeface="Arial"/>
              </a:rPr>
              <a:t>여행 중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30768" y="1435607"/>
            <a:ext cx="365760" cy="201168"/>
          </a:xfrm>
          <a:prstGeom prst="roundRect">
            <a:avLst/>
          </a:prstGeom>
          <a:solidFill>
            <a:srgbClr val="E9E1CE"/>
          </a:solidFill>
          <a:ln>
            <a:solidFill>
              <a:srgbClr val="E9E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85632" y="1435607"/>
            <a:ext cx="256032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00" b="1">
                <a:solidFill>
                  <a:srgbClr val="2B4D72"/>
                </a:solidFill>
                <a:latin typeface="Arial"/>
              </a:rPr>
              <a:t>9 / 13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0608" y="1755648"/>
            <a:ext cx="16916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20" b="0">
                <a:solidFill>
                  <a:srgbClr val="667064"/>
                </a:solidFill>
                <a:latin typeface="Arial"/>
              </a:rPr>
              <a:t>여행 기록 + 미션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2377439"/>
            <a:ext cx="1920240" cy="822960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" y="2505456"/>
            <a:ext cx="118872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B4D72"/>
                </a:solidFill>
                <a:latin typeface="Arial"/>
              </a:rPr>
              <a:t>여행자 기록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984248" y="2487168"/>
            <a:ext cx="365760" cy="201168"/>
          </a:xfrm>
          <a:prstGeom prst="roundRect">
            <a:avLst/>
          </a:prstGeom>
          <a:solidFill>
            <a:srgbClr val="E9E1CE"/>
          </a:solidFill>
          <a:ln>
            <a:solidFill>
              <a:srgbClr val="E9E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39112" y="2487168"/>
            <a:ext cx="256032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00" b="1">
                <a:solidFill>
                  <a:srgbClr val="2B4D72"/>
                </a:solidFill>
                <a:latin typeface="Arial"/>
              </a:rPr>
              <a:t>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" y="2807207"/>
            <a:ext cx="16916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20" b="0">
                <a:solidFill>
                  <a:srgbClr val="667064"/>
                </a:solidFill>
                <a:latin typeface="Arial"/>
              </a:rPr>
              <a:t>Mini Blog / UGC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0" y="2377439"/>
            <a:ext cx="1920240" cy="822960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52928" y="2505456"/>
            <a:ext cx="118872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B4D72"/>
                </a:solidFill>
                <a:latin typeface="Arial"/>
              </a:rPr>
              <a:t>라운지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33087" y="2487168"/>
            <a:ext cx="365760" cy="201168"/>
          </a:xfrm>
          <a:prstGeom prst="roundRect">
            <a:avLst/>
          </a:prstGeom>
          <a:solidFill>
            <a:srgbClr val="E9E1CE"/>
          </a:solidFill>
          <a:ln>
            <a:solidFill>
              <a:srgbClr val="E9E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87951" y="2487168"/>
            <a:ext cx="256032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00" b="1">
                <a:solidFill>
                  <a:srgbClr val="2B4D72"/>
                </a:solidFill>
                <a:latin typeface="Arial"/>
              </a:rPr>
              <a:t>14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52928" y="2807207"/>
            <a:ext cx="16916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20" b="0">
                <a:solidFill>
                  <a:srgbClr val="667064"/>
                </a:solidFill>
                <a:latin typeface="Arial"/>
              </a:rPr>
              <a:t>팁·후기·질문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892040" y="2377439"/>
            <a:ext cx="1920240" cy="822960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01768" y="2505456"/>
            <a:ext cx="118872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B4D72"/>
                </a:solidFill>
                <a:latin typeface="Arial"/>
              </a:rPr>
              <a:t>나의 목포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81928" y="2487168"/>
            <a:ext cx="365760" cy="201168"/>
          </a:xfrm>
          <a:prstGeom prst="roundRect">
            <a:avLst/>
          </a:prstGeom>
          <a:solidFill>
            <a:srgbClr val="E9E1CE"/>
          </a:solidFill>
          <a:ln>
            <a:solidFill>
              <a:srgbClr val="E9E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36792" y="2487168"/>
            <a:ext cx="256032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00" b="1">
                <a:solidFill>
                  <a:srgbClr val="2B4D72"/>
                </a:solidFill>
                <a:latin typeface="Arial"/>
              </a:rPr>
              <a:t>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01768" y="2807207"/>
            <a:ext cx="16916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20" b="0">
                <a:solidFill>
                  <a:srgbClr val="667064"/>
                </a:solidFill>
                <a:latin typeface="Arial"/>
              </a:rPr>
              <a:t>저장 코스·일기·취향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4360" y="3657600"/>
            <a:ext cx="8412480" cy="1371600"/>
          </a:xfrm>
          <a:prstGeom prst="roundRect">
            <a:avLst/>
          </a:prstGeom>
          <a:solidFill>
            <a:srgbClr val="F7F3EA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" y="3886200"/>
            <a:ext cx="16459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2B4D72"/>
                </a:solidFill>
                <a:latin typeface="Arial"/>
              </a:rPr>
              <a:t>핵심 여행 만들기 흐름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2960" y="4389120"/>
            <a:ext cx="1170432" cy="347472"/>
          </a:xfrm>
          <a:prstGeom prst="round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7824" y="4389120"/>
            <a:ext cx="1060704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60" b="1">
                <a:solidFill>
                  <a:srgbClr val="FFFDF8"/>
                </a:solidFill>
                <a:latin typeface="Arial"/>
              </a:rPr>
              <a:t>01 여행 조건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93392" y="4462272"/>
            <a:ext cx="164592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667064"/>
                </a:solidFill>
                <a:latin typeface="Arial"/>
              </a:rPr>
              <a:t>→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176272" y="4389120"/>
            <a:ext cx="1170432" cy="347472"/>
          </a:xfrm>
          <a:prstGeom prst="roundRect">
            <a:avLst/>
          </a:prstGeom>
          <a:solidFill>
            <a:srgbClr val="E9E1CE"/>
          </a:solidFill>
          <a:ln>
            <a:solidFill>
              <a:srgbClr val="E9E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231136" y="4389120"/>
            <a:ext cx="1060704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60" b="1">
                <a:solidFill>
                  <a:srgbClr val="17304A"/>
                </a:solidFill>
                <a:latin typeface="Arial"/>
              </a:rPr>
              <a:t>02 취향 발견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46704" y="4462272"/>
            <a:ext cx="164592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667064"/>
                </a:solidFill>
                <a:latin typeface="Arial"/>
              </a:rPr>
              <a:t>→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529584" y="4389120"/>
            <a:ext cx="1170432" cy="347472"/>
          </a:xfrm>
          <a:prstGeom prst="roundRect">
            <a:avLst/>
          </a:prstGeom>
          <a:solidFill>
            <a:srgbClr val="E9E1CE"/>
          </a:solidFill>
          <a:ln>
            <a:solidFill>
              <a:srgbClr val="E9E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584448" y="4389120"/>
            <a:ext cx="1060704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60" b="1">
                <a:solidFill>
                  <a:srgbClr val="17304A"/>
                </a:solidFill>
                <a:latin typeface="Arial"/>
              </a:rPr>
              <a:t>03 몽포리 대화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00016" y="4462272"/>
            <a:ext cx="164592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667064"/>
                </a:solidFill>
                <a:latin typeface="Arial"/>
              </a:rPr>
              <a:t>→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882896" y="4389120"/>
            <a:ext cx="1170432" cy="347472"/>
          </a:xfrm>
          <a:prstGeom prst="roundRect">
            <a:avLst/>
          </a:prstGeom>
          <a:solidFill>
            <a:srgbClr val="E9E1CE"/>
          </a:solidFill>
          <a:ln>
            <a:solidFill>
              <a:srgbClr val="E9E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937759" y="4389120"/>
            <a:ext cx="1060704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60" b="1">
                <a:solidFill>
                  <a:srgbClr val="17304A"/>
                </a:solidFill>
                <a:latin typeface="Arial"/>
              </a:rPr>
              <a:t>04 테마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053328" y="4462272"/>
            <a:ext cx="164592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667064"/>
                </a:solidFill>
                <a:latin typeface="Arial"/>
              </a:rPr>
              <a:t>→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36208" y="4389120"/>
            <a:ext cx="1170432" cy="347472"/>
          </a:xfrm>
          <a:prstGeom prst="roundRect">
            <a:avLst/>
          </a:prstGeom>
          <a:solidFill>
            <a:srgbClr val="E9E1CE"/>
          </a:solidFill>
          <a:ln>
            <a:solidFill>
              <a:srgbClr val="E9E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91072" y="4389120"/>
            <a:ext cx="1060704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60" b="1">
                <a:solidFill>
                  <a:srgbClr val="17304A"/>
                </a:solidFill>
                <a:latin typeface="Arial"/>
              </a:rPr>
              <a:t>05 장소 선택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06640" y="4462272"/>
            <a:ext cx="164592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667064"/>
                </a:solidFill>
                <a:latin typeface="Arial"/>
              </a:rPr>
              <a:t>→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589520" y="4389120"/>
            <a:ext cx="1170432" cy="347472"/>
          </a:xfrm>
          <a:prstGeom prst="round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644384" y="4389120"/>
            <a:ext cx="1060704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60" b="1">
                <a:solidFill>
                  <a:srgbClr val="FFFDF8"/>
                </a:solidFill>
                <a:latin typeface="Arial"/>
              </a:rPr>
              <a:t>06 코스 완성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2960" y="4828032"/>
            <a:ext cx="75895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80" b="0">
                <a:solidFill>
                  <a:srgbClr val="667064"/>
                </a:solidFill>
                <a:latin typeface="Arial"/>
              </a:rPr>
              <a:t>Prototype 상단에는 ‘PROTOTYPE / 실제 AI·관광·지도 API 연결 전’ 안내와 ‘공유받은 여행 가져오기’가 공통 노출됩니다.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132320" y="6510528"/>
            <a:ext cx="22860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750" b="0">
                <a:solidFill>
                  <a:srgbClr val="667064"/>
                </a:solidFill>
                <a:latin typeface="Arial"/>
              </a:rPr>
              <a:t>NOVA · 화면설계서 ·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411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F6B5E"/>
                </a:solidFill>
                <a:latin typeface="Arial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201168"/>
            <a:ext cx="4114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100" b="1">
                <a:solidFill>
                  <a:srgbClr val="17304A"/>
                </a:solidFill>
                <a:latin typeface="Arial"/>
              </a:rPr>
              <a:t>핵심 사용자 플로우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246888"/>
            <a:ext cx="356616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2B4D72"/>
                </a:solidFill>
                <a:latin typeface="Arial"/>
              </a:rPr>
              <a:t>FLOW  ·  UC-01~04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80467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667064"/>
                </a:solidFill>
                <a:latin typeface="Arial"/>
              </a:rPr>
              <a:t>요구사항의 조건 입력·추천·저장 흐름을 실제 Prototype의 화면 이동 순서로 재정의했습니다.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33271"/>
            <a:ext cx="8915400" cy="13716"/>
          </a:xfrm>
          <a:prstGeom prst="rect">
            <a:avLst/>
          </a:prstGeom>
          <a:solidFill>
            <a:srgbClr val="D8C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960120" cy="749808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76072" y="1755648"/>
            <a:ext cx="256032" cy="256032"/>
          </a:xfrm>
          <a:prstGeom prst="round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1755648"/>
            <a:ext cx="146304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80" b="1">
                <a:solidFill>
                  <a:srgbClr val="FFFDF8"/>
                </a:solidFill>
                <a:latin typeface="Arial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746504"/>
            <a:ext cx="5029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00" b="1">
                <a:solidFill>
                  <a:srgbClr val="17304A"/>
                </a:solidFill>
                <a:latin typeface="Arial"/>
              </a:rPr>
              <a:t>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2057400"/>
            <a:ext cx="813816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00" b="0">
                <a:solidFill>
                  <a:srgbClr val="667064"/>
                </a:solidFill>
                <a:latin typeface="Arial"/>
              </a:rPr>
              <a:t>go(0)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1874519"/>
            <a:ext cx="1828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F6B5E"/>
                </a:solidFill>
                <a:latin typeface="Arial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55064" y="1645920"/>
            <a:ext cx="960120" cy="749808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728216" y="1755648"/>
            <a:ext cx="256032" cy="256032"/>
          </a:xfrm>
          <a:prstGeom prst="round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83080" y="1755648"/>
            <a:ext cx="146304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80" b="1">
                <a:solidFill>
                  <a:srgbClr val="FFFDF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39112" y="1746504"/>
            <a:ext cx="5029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00" b="1">
                <a:solidFill>
                  <a:srgbClr val="17304A"/>
                </a:solidFill>
                <a:latin typeface="Arial"/>
              </a:rPr>
              <a:t>여행 조건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28216" y="2057400"/>
            <a:ext cx="813816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00" b="0">
                <a:solidFill>
                  <a:srgbClr val="667064"/>
                </a:solidFill>
                <a:latin typeface="Arial"/>
              </a:rPr>
              <a:t>go(1)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15184" y="1874519"/>
            <a:ext cx="1828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F6B5E"/>
                </a:solidFill>
                <a:latin typeface="Arial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07208" y="1645920"/>
            <a:ext cx="960120" cy="749808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880360" y="1755648"/>
            <a:ext cx="256032" cy="256032"/>
          </a:xfrm>
          <a:prstGeom prst="round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35224" y="1755648"/>
            <a:ext cx="146304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80" b="1">
                <a:solidFill>
                  <a:srgbClr val="FFFDF8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91256" y="1746504"/>
            <a:ext cx="5029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00" b="1">
                <a:solidFill>
                  <a:srgbClr val="17304A"/>
                </a:solidFill>
                <a:latin typeface="Arial"/>
              </a:rPr>
              <a:t>취향 발견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360" y="2057400"/>
            <a:ext cx="813816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00" b="0">
                <a:solidFill>
                  <a:srgbClr val="667064"/>
                </a:solidFill>
                <a:latin typeface="Arial"/>
              </a:rPr>
              <a:t>go(2)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67328" y="1874519"/>
            <a:ext cx="1828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F6B5E"/>
                </a:solidFill>
                <a:latin typeface="Arial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959352" y="1645920"/>
            <a:ext cx="960120" cy="749808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032504" y="1755648"/>
            <a:ext cx="256032" cy="256032"/>
          </a:xfrm>
          <a:prstGeom prst="round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87368" y="1755648"/>
            <a:ext cx="146304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80" b="1">
                <a:solidFill>
                  <a:srgbClr val="FFFDF8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1746504"/>
            <a:ext cx="5029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00" b="1">
                <a:solidFill>
                  <a:srgbClr val="17304A"/>
                </a:solidFill>
                <a:latin typeface="Arial"/>
              </a:rPr>
              <a:t>몽포리 대화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32504" y="2057400"/>
            <a:ext cx="813816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00" b="0">
                <a:solidFill>
                  <a:srgbClr val="667064"/>
                </a:solidFill>
                <a:latin typeface="Arial"/>
              </a:rPr>
              <a:t>go(3)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19472" y="1874519"/>
            <a:ext cx="1828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F6B5E"/>
                </a:solidFill>
                <a:latin typeface="Arial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111496" y="1645920"/>
            <a:ext cx="960120" cy="749808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184648" y="1755648"/>
            <a:ext cx="256032" cy="256032"/>
          </a:xfrm>
          <a:prstGeom prst="round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39512" y="1755648"/>
            <a:ext cx="146304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80" b="1">
                <a:solidFill>
                  <a:srgbClr val="FFFDF8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95544" y="1746504"/>
            <a:ext cx="5029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00" b="1">
                <a:solidFill>
                  <a:srgbClr val="17304A"/>
                </a:solidFill>
                <a:latin typeface="Arial"/>
              </a:rPr>
              <a:t>여행 테마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84648" y="2057400"/>
            <a:ext cx="813816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00" b="0">
                <a:solidFill>
                  <a:srgbClr val="667064"/>
                </a:solidFill>
                <a:latin typeface="Arial"/>
              </a:rPr>
              <a:t>go(4)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71616" y="1874519"/>
            <a:ext cx="1828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F6B5E"/>
                </a:solidFill>
                <a:latin typeface="Arial"/>
              </a:rP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63640" y="1645920"/>
            <a:ext cx="960120" cy="749808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336792" y="1755648"/>
            <a:ext cx="256032" cy="256032"/>
          </a:xfrm>
          <a:prstGeom prst="round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91655" y="1755648"/>
            <a:ext cx="146304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80" b="1">
                <a:solidFill>
                  <a:srgbClr val="FFFDF8"/>
                </a:solidFill>
                <a:latin typeface="Arial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47688" y="1746504"/>
            <a:ext cx="5029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00" b="1">
                <a:solidFill>
                  <a:srgbClr val="17304A"/>
                </a:solidFill>
                <a:latin typeface="Arial"/>
              </a:rPr>
              <a:t>장소 선택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36792" y="2057400"/>
            <a:ext cx="813816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00" b="0">
                <a:solidFill>
                  <a:srgbClr val="667064"/>
                </a:solidFill>
                <a:latin typeface="Arial"/>
              </a:rPr>
              <a:t>go(5)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23759" y="1874519"/>
            <a:ext cx="1828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F6B5E"/>
                </a:solidFill>
                <a:latin typeface="Arial"/>
              </a:rPr>
              <a:t>→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415784" y="1645920"/>
            <a:ext cx="960120" cy="749808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488936" y="1755648"/>
            <a:ext cx="256032" cy="256032"/>
          </a:xfrm>
          <a:prstGeom prst="round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43800" y="1755648"/>
            <a:ext cx="146304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80" b="1">
                <a:solidFill>
                  <a:srgbClr val="FFFDF8"/>
                </a:solidFill>
                <a:latin typeface="Arial"/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99832" y="1746504"/>
            <a:ext cx="5029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00" b="1">
                <a:solidFill>
                  <a:srgbClr val="17304A"/>
                </a:solidFill>
                <a:latin typeface="Arial"/>
              </a:rPr>
              <a:t>코스 생성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88936" y="2057400"/>
            <a:ext cx="813816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00" b="0">
                <a:solidFill>
                  <a:srgbClr val="667064"/>
                </a:solidFill>
                <a:latin typeface="Arial"/>
              </a:rPr>
              <a:t>go(6)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75904" y="1874519"/>
            <a:ext cx="1828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F6B5E"/>
                </a:solidFill>
                <a:latin typeface="Arial"/>
              </a:rPr>
              <a:t>→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567928" y="1645920"/>
            <a:ext cx="960120" cy="749808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8641080" y="1755648"/>
            <a:ext cx="256032" cy="256032"/>
          </a:xfrm>
          <a:prstGeom prst="round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695944" y="1755648"/>
            <a:ext cx="146304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80" b="1">
                <a:solidFill>
                  <a:srgbClr val="FFFDF8"/>
                </a:solidFill>
                <a:latin typeface="Arial"/>
              </a:rPr>
              <a:t>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51976" y="1746504"/>
            <a:ext cx="5029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00" b="1">
                <a:solidFill>
                  <a:srgbClr val="17304A"/>
                </a:solidFill>
                <a:latin typeface="Arial"/>
              </a:rPr>
              <a:t>완성 결과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41080" y="2057400"/>
            <a:ext cx="813816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00" b="0">
                <a:solidFill>
                  <a:srgbClr val="667064"/>
                </a:solidFill>
                <a:latin typeface="Arial"/>
              </a:rPr>
              <a:t>go(7)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85800" y="2926080"/>
            <a:ext cx="2468880" cy="658368"/>
          </a:xfrm>
          <a:prstGeom prst="roundRect">
            <a:avLst/>
          </a:prstGeom>
          <a:solidFill>
            <a:srgbClr val="F7F3EA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795528" y="3035808"/>
            <a:ext cx="329184" cy="329184"/>
          </a:xfrm>
          <a:prstGeom prst="round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0392" y="3035808"/>
            <a:ext cx="219456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DF8"/>
                </a:solidFill>
                <a:latin typeface="Arial"/>
              </a:rPr>
              <a:t>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16152" y="2999232"/>
            <a:ext cx="1828800" cy="51206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30" b="0">
                <a:solidFill>
                  <a:srgbClr val="17304A"/>
                </a:solidFill>
                <a:latin typeface="Arial"/>
              </a:rPr>
              <a:t>조건은 선택형 Context(체류시간·예산·동행·이동)로 시작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337560" y="2926080"/>
            <a:ext cx="2468880" cy="658368"/>
          </a:xfrm>
          <a:prstGeom prst="roundRect">
            <a:avLst/>
          </a:prstGeom>
          <a:solidFill>
            <a:srgbClr val="F7F3EA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3447288" y="3035808"/>
            <a:ext cx="329184" cy="329184"/>
          </a:xfrm>
          <a:prstGeom prst="round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502152" y="3035808"/>
            <a:ext cx="219456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DF8"/>
                </a:solidFill>
                <a:latin typeface="Arial"/>
              </a:rPr>
              <a:t>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867911" y="2999232"/>
            <a:ext cx="1828800" cy="51206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30" b="0">
                <a:solidFill>
                  <a:srgbClr val="17304A"/>
                </a:solidFill>
                <a:latin typeface="Arial"/>
              </a:rPr>
              <a:t>취향 12종을 다중 선택한 뒤 몽포리와 자연어 대화를 통해 태그를 보강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989320" y="2926080"/>
            <a:ext cx="2468880" cy="658368"/>
          </a:xfrm>
          <a:prstGeom prst="roundRect">
            <a:avLst/>
          </a:prstGeom>
          <a:solidFill>
            <a:srgbClr val="F7F3EA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6099048" y="3035808"/>
            <a:ext cx="329184" cy="329184"/>
          </a:xfrm>
          <a:prstGeom prst="round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53912" y="3035808"/>
            <a:ext cx="219456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DF8"/>
                </a:solidFill>
                <a:latin typeface="Arial"/>
              </a:rPr>
              <a:t>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19672" y="2999232"/>
            <a:ext cx="1828800" cy="51206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30" b="0">
                <a:solidFill>
                  <a:srgbClr val="17304A"/>
                </a:solidFill>
                <a:latin typeface="Arial"/>
              </a:rPr>
              <a:t>테마 3종 → 식당·카페·산책 후보 선택 → 시간·예산을 계산해 코스 생성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874519" y="3977639"/>
            <a:ext cx="6126480" cy="749808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1984248" y="4087368"/>
            <a:ext cx="329184" cy="329184"/>
          </a:xfrm>
          <a:prstGeom prst="round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039112" y="4087368"/>
            <a:ext cx="219456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DF8"/>
                </a:solidFill>
                <a:latin typeface="Arial"/>
              </a:rPr>
              <a:t>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404872" y="4050791"/>
            <a:ext cx="5486400" cy="60350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30" b="0">
                <a:solidFill>
                  <a:srgbClr val="17304A"/>
                </a:solidFill>
                <a:latin typeface="Arial"/>
              </a:rPr>
              <a:t>완성 후 부분 변경·저장·공유·여행 시작 → 여행 중 기록 → 여행일기 → UGC → 다음 추천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132320" y="6510528"/>
            <a:ext cx="22860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750" b="0">
                <a:solidFill>
                  <a:srgbClr val="667064"/>
                </a:solidFill>
                <a:latin typeface="Arial"/>
              </a:rPr>
              <a:t>NOVA · 화면설계서 ·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411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F6B5E"/>
                </a:solidFill>
                <a:latin typeface="Arial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201168"/>
            <a:ext cx="4114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100" b="1">
                <a:solidFill>
                  <a:srgbClr val="17304A"/>
                </a:solidFill>
                <a:latin typeface="Arial"/>
              </a:rPr>
              <a:t>메인 화면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246888"/>
            <a:ext cx="356616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2B4D72"/>
                </a:solidFill>
                <a:latin typeface="Arial"/>
              </a:rPr>
              <a:t>HOME_01  ·  -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80467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667064"/>
                </a:solidFill>
                <a:latin typeface="Arial"/>
              </a:rPr>
              <a:t>실제 Prototype의 에디토리얼 홈 화면. 브랜드·몽포리·취향 진입·여행자 기록을 한 화면에 배치.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33271"/>
            <a:ext cx="8915400" cy="13716"/>
          </a:xfrm>
          <a:prstGeom prst="rect">
            <a:avLst/>
          </a:prstGeom>
          <a:solidFill>
            <a:srgbClr val="D8C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5486400" cy="5074920"/>
          </a:xfrm>
          <a:prstGeom prst="roundRect">
            <a:avLst/>
          </a:prstGeom>
          <a:solidFill>
            <a:srgbClr val="F2E9D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307592"/>
            <a:ext cx="13258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17304A"/>
                </a:solidFill>
                <a:latin typeface="Arial"/>
              </a:rPr>
              <a:t>목포 뭐 하지?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508760"/>
            <a:ext cx="822960" cy="91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50" b="1">
                <a:solidFill>
                  <a:srgbClr val="667064"/>
                </a:solidFill>
                <a:latin typeface="Arial"/>
              </a:rPr>
              <a:t>TEAM NOVA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371600"/>
            <a:ext cx="475488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1">
                <a:solidFill>
                  <a:srgbClr val="FF6B5E"/>
                </a:solidFill>
                <a:latin typeface="Arial"/>
              </a:rPr>
              <a:t>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42032" y="1371600"/>
            <a:ext cx="6400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0">
                <a:solidFill>
                  <a:srgbClr val="667064"/>
                </a:solidFill>
                <a:latin typeface="Arial"/>
              </a:rPr>
              <a:t>여행 만들기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6976" y="1371600"/>
            <a:ext cx="6400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0">
                <a:solidFill>
                  <a:srgbClr val="667064"/>
                </a:solidFill>
                <a:latin typeface="Arial"/>
              </a:rPr>
              <a:t>목포 탐색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1371600"/>
            <a:ext cx="475488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0">
                <a:solidFill>
                  <a:srgbClr val="667064"/>
                </a:solidFill>
                <a:latin typeface="Arial"/>
              </a:rPr>
              <a:t>여행 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272" y="1371600"/>
            <a:ext cx="475488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0">
                <a:solidFill>
                  <a:srgbClr val="667064"/>
                </a:solidFill>
                <a:latin typeface="Arial"/>
              </a:rPr>
              <a:t>기록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2624" y="1371600"/>
            <a:ext cx="475488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0">
                <a:solidFill>
                  <a:srgbClr val="667064"/>
                </a:solidFill>
                <a:latin typeface="Arial"/>
              </a:rPr>
              <a:t>라운지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22976" y="1371600"/>
            <a:ext cx="475488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0">
                <a:solidFill>
                  <a:srgbClr val="667064"/>
                </a:solidFill>
                <a:latin typeface="Arial"/>
              </a:rPr>
              <a:t>나의 목포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1709928"/>
            <a:ext cx="5486400" cy="201168"/>
          </a:xfrm>
          <a:prstGeom prst="rect">
            <a:avLst/>
          </a:prstGeom>
          <a:solidFill>
            <a:srgbClr val="F7F3EA"/>
          </a:solidFill>
          <a:ln>
            <a:solidFill>
              <a:srgbClr val="F7F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67512" y="1737360"/>
            <a:ext cx="566928" cy="128016"/>
          </a:xfrm>
          <a:prstGeom prst="roundRect">
            <a:avLst/>
          </a:prstGeom>
          <a:solidFill>
            <a:srgbClr val="E9E1CE"/>
          </a:solidFill>
          <a:ln>
            <a:solidFill>
              <a:srgbClr val="E9E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" y="1737360"/>
            <a:ext cx="457200" cy="1280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09" b="1">
                <a:solidFill>
                  <a:srgbClr val="2B4D72"/>
                </a:solidFill>
                <a:latin typeface="Arial"/>
              </a:rPr>
              <a:t>PROTOTYPE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1719072"/>
            <a:ext cx="169164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50" b="0">
                <a:solidFill>
                  <a:srgbClr val="667064"/>
                </a:solidFill>
                <a:latin typeface="Arial"/>
              </a:rPr>
              <a:t>실제 AI·관광·지도 API 연결 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2103120"/>
            <a:ext cx="25603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50" b="1">
                <a:solidFill>
                  <a:srgbClr val="667064"/>
                </a:solidFill>
                <a:latin typeface="Arial"/>
              </a:rPr>
              <a:t>나의 속도로 만나는 항구도시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2377440"/>
            <a:ext cx="21031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17304A"/>
                </a:solidFill>
                <a:latin typeface="Arial"/>
              </a:rPr>
              <a:t>목포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2834640"/>
            <a:ext cx="256032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100" b="1">
                <a:solidFill>
                  <a:srgbClr val="2B4D72"/>
                </a:solidFill>
                <a:latin typeface="Arial"/>
              </a:rPr>
              <a:t>뭐 하지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2834640"/>
            <a:ext cx="32004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100" b="1">
                <a:solidFill>
                  <a:srgbClr val="FF6B5E"/>
                </a:solidFill>
                <a:latin typeface="Arial"/>
              </a:rPr>
              <a:t>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3474720"/>
            <a:ext cx="274320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19" b="0">
                <a:solidFill>
                  <a:srgbClr val="667064"/>
                </a:solidFill>
                <a:latin typeface="Arial"/>
              </a:rPr>
              <a:t>바다와 골목, 맛있는 한 끼.
몽포리와 오늘의 목포를 발견해요.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4178808"/>
            <a:ext cx="2423160" cy="429768"/>
          </a:xfrm>
          <a:prstGeom prst="round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" y="4178808"/>
            <a:ext cx="2313432" cy="4297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80" b="1">
                <a:solidFill>
                  <a:srgbClr val="FFFDF8"/>
                </a:solidFill>
                <a:latin typeface="Arial"/>
              </a:rPr>
              <a:t>몽포리와 여행 시작하기  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672583"/>
            <a:ext cx="21945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580" b="0">
                <a:solidFill>
                  <a:srgbClr val="667064"/>
                </a:solidFill>
                <a:latin typeface="Arial"/>
              </a:rPr>
              <a:t>내 취향대로, 나의 속도로.</a:t>
            </a:r>
          </a:p>
        </p:txBody>
      </p:sp>
      <p:pic>
        <p:nvPicPr>
          <p:cNvPr id="29" name="Picture 28" descr="harbor-editor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2194560"/>
            <a:ext cx="2331720" cy="1737360"/>
          </a:xfrm>
          <a:prstGeom prst="rect">
            <a:avLst/>
          </a:prstGeom>
        </p:spPr>
      </p:pic>
      <p:pic>
        <p:nvPicPr>
          <p:cNvPr id="30" name="Picture 29" descr="mongpori-gu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3291840"/>
            <a:ext cx="1463040" cy="196596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749039" y="5486400"/>
            <a:ext cx="182880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30" b="1">
                <a:solidFill>
                  <a:srgbClr val="667064"/>
                </a:solidFill>
                <a:latin typeface="Arial"/>
              </a:rPr>
              <a:t>MOKPO · A DAY OF YOUR OWN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5760720"/>
            <a:ext cx="4937760" cy="347472"/>
          </a:xfrm>
          <a:prstGeom prst="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824727"/>
            <a:ext cx="1051560" cy="1371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540" b="1">
                <a:solidFill>
                  <a:srgbClr val="667064"/>
                </a:solidFill>
                <a:latin typeface="Arial"/>
              </a:rPr>
              <a:t>작은 취향에서 시작해요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075688" y="5806440"/>
            <a:ext cx="713232" cy="201168"/>
          </a:xfrm>
          <a:prstGeom prst="roundRect">
            <a:avLst/>
          </a:prstGeom>
          <a:solidFill>
            <a:srgbClr val="E9E1CE"/>
          </a:solidFill>
          <a:ln>
            <a:solidFill>
              <a:srgbClr val="E9E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30552" y="5806440"/>
            <a:ext cx="603504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80" b="1">
                <a:solidFill>
                  <a:srgbClr val="17304A"/>
                </a:solidFill>
                <a:latin typeface="Arial"/>
              </a:rPr>
              <a:t>미식 여행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871216" y="5806440"/>
            <a:ext cx="713232" cy="201168"/>
          </a:xfrm>
          <a:prstGeom prst="roundRect">
            <a:avLst/>
          </a:prstGeom>
          <a:solidFill>
            <a:srgbClr val="E9E1CE"/>
          </a:solidFill>
          <a:ln>
            <a:solidFill>
              <a:srgbClr val="E9E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26080" y="5806440"/>
            <a:ext cx="603504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80" b="1">
                <a:solidFill>
                  <a:srgbClr val="17304A"/>
                </a:solidFill>
                <a:latin typeface="Arial"/>
              </a:rPr>
              <a:t>바다·노을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666744" y="5806440"/>
            <a:ext cx="713232" cy="201168"/>
          </a:xfrm>
          <a:prstGeom prst="roundRect">
            <a:avLst/>
          </a:prstGeom>
          <a:solidFill>
            <a:srgbClr val="E9E1CE"/>
          </a:solidFill>
          <a:ln>
            <a:solidFill>
              <a:srgbClr val="E9E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21607" y="5806440"/>
            <a:ext cx="603504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80" b="1">
                <a:solidFill>
                  <a:srgbClr val="17304A"/>
                </a:solidFill>
                <a:latin typeface="Arial"/>
              </a:rPr>
              <a:t>골목 여행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462272" y="5806440"/>
            <a:ext cx="713232" cy="201168"/>
          </a:xfrm>
          <a:prstGeom prst="roundRect">
            <a:avLst/>
          </a:prstGeom>
          <a:solidFill>
            <a:srgbClr val="E9E1CE"/>
          </a:solidFill>
          <a:ln>
            <a:solidFill>
              <a:srgbClr val="E9E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17136" y="5806440"/>
            <a:ext cx="603504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80" b="1">
                <a:solidFill>
                  <a:srgbClr val="17304A"/>
                </a:solidFill>
                <a:latin typeface="Arial"/>
              </a:rPr>
              <a:t>카페 여행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99632" y="1234440"/>
            <a:ext cx="3200400" cy="5074920"/>
          </a:xfrm>
          <a:prstGeom prst="roundRect">
            <a:avLst/>
          </a:prstGeom>
          <a:solidFill>
            <a:srgbClr val="F7F3EA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46520" y="1481328"/>
            <a:ext cx="10972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2B4D72"/>
                </a:solidFill>
                <a:latin typeface="Arial"/>
              </a:rPr>
              <a:t>화면 설명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28232" y="1874519"/>
            <a:ext cx="2697480" cy="694944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537960" y="1984248"/>
            <a:ext cx="329184" cy="329184"/>
          </a:xfrm>
          <a:prstGeom prst="round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92824" y="1984248"/>
            <a:ext cx="219456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DF8"/>
                </a:solidFill>
                <a:latin typeface="Arial"/>
              </a:rP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58584" y="1947672"/>
            <a:ext cx="2057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30" b="0">
                <a:solidFill>
                  <a:srgbClr val="17304A"/>
                </a:solidFill>
                <a:latin typeface="Arial"/>
              </a:rPr>
              <a:t>‘목포 뭐 하지?’ 브랜드와 MOKPO 감성의 히어로 영역을 제공한다.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28232" y="2679191"/>
            <a:ext cx="2697480" cy="694944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537960" y="2788920"/>
            <a:ext cx="329184" cy="329184"/>
          </a:xfrm>
          <a:prstGeom prst="round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92824" y="2788920"/>
            <a:ext cx="219456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DF8"/>
                </a:solidFill>
                <a:latin typeface="Arial"/>
              </a:rPr>
              <a:t>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58584" y="2752344"/>
            <a:ext cx="2057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30" b="0">
                <a:solidFill>
                  <a:srgbClr val="17304A"/>
                </a:solidFill>
                <a:latin typeface="Arial"/>
              </a:rPr>
              <a:t>‘몽포리와 여행 시작하기’가 핵심 CTA이며 여행 조건 화면으로 이동한다.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28232" y="3483863"/>
            <a:ext cx="2697480" cy="694944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6537960" y="3593591"/>
            <a:ext cx="329184" cy="329184"/>
          </a:xfrm>
          <a:prstGeom prst="round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92824" y="3593591"/>
            <a:ext cx="219456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DF8"/>
                </a:solidFill>
                <a:latin typeface="Arial"/>
              </a:rPr>
              <a:t>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58584" y="3557015"/>
            <a:ext cx="2057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30" b="0">
                <a:solidFill>
                  <a:srgbClr val="17304A"/>
                </a:solidFill>
                <a:latin typeface="Arial"/>
              </a:rPr>
              <a:t>‘작은 취향에서 시작해요’ 리본에서 미식·바다·골목·카페 취향으로 빠르게 진입한다.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428232" y="4288536"/>
            <a:ext cx="2697480" cy="694944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6537960" y="4398264"/>
            <a:ext cx="329184" cy="329184"/>
          </a:xfrm>
          <a:prstGeom prst="round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92824" y="4398264"/>
            <a:ext cx="219456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DF8"/>
                </a:solidFill>
                <a:latin typeface="Arial"/>
              </a:rPr>
              <a:t>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58584" y="4361688"/>
            <a:ext cx="2057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30" b="0">
                <a:solidFill>
                  <a:srgbClr val="17304A"/>
                </a:solidFill>
                <a:latin typeface="Arial"/>
              </a:rPr>
              <a:t>하단에는 여행자 기록(Mini Blog)으로 이어지는 추천→경험→기록의 연결 구조를 둔다.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132320" y="6510528"/>
            <a:ext cx="22860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750" b="0">
                <a:solidFill>
                  <a:srgbClr val="667064"/>
                </a:solidFill>
                <a:latin typeface="Arial"/>
              </a:rPr>
              <a:t>NOVA · 화면설계서 ·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411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F6B5E"/>
                </a:solidFill>
                <a:latin typeface="Arial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201168"/>
            <a:ext cx="4114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100" b="1">
                <a:solidFill>
                  <a:srgbClr val="17304A"/>
                </a:solidFill>
                <a:latin typeface="Arial"/>
              </a:rPr>
              <a:t>여행 조건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246888"/>
            <a:ext cx="356616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2B4D72"/>
                </a:solidFill>
                <a:latin typeface="Arial"/>
              </a:rPr>
              <a:t>TRIP_01  ·  UC-01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80467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667064"/>
                </a:solidFill>
                <a:latin typeface="Arial"/>
              </a:rPr>
              <a:t>실제 Prototype에서는 자연어 입력이 아니라 4개의 선택형 Context로 여행 상황을 먼저 정의합니다.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33271"/>
            <a:ext cx="8915400" cy="13716"/>
          </a:xfrm>
          <a:prstGeom prst="rect">
            <a:avLst/>
          </a:prstGeom>
          <a:solidFill>
            <a:srgbClr val="D8C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5486400" cy="5074920"/>
          </a:xfrm>
          <a:prstGeom prst="roundRect">
            <a:avLst/>
          </a:prstGeom>
          <a:solidFill>
            <a:srgbClr val="F2E9D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307592"/>
            <a:ext cx="13258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17304A"/>
                </a:solidFill>
                <a:latin typeface="Arial"/>
              </a:rPr>
              <a:t>목포 뭐 하지?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508760"/>
            <a:ext cx="822960" cy="91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50" b="1">
                <a:solidFill>
                  <a:srgbClr val="667064"/>
                </a:solidFill>
                <a:latin typeface="Arial"/>
              </a:rPr>
              <a:t>TEAM NOVA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371600"/>
            <a:ext cx="475488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0">
                <a:solidFill>
                  <a:srgbClr val="667064"/>
                </a:solidFill>
                <a:latin typeface="Arial"/>
              </a:rPr>
              <a:t>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42032" y="1371600"/>
            <a:ext cx="6400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1">
                <a:solidFill>
                  <a:srgbClr val="FF6B5E"/>
                </a:solidFill>
                <a:latin typeface="Arial"/>
              </a:rPr>
              <a:t>여행 만들기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6976" y="1371600"/>
            <a:ext cx="6400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0">
                <a:solidFill>
                  <a:srgbClr val="667064"/>
                </a:solidFill>
                <a:latin typeface="Arial"/>
              </a:rPr>
              <a:t>목포 탐색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1371600"/>
            <a:ext cx="475488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0">
                <a:solidFill>
                  <a:srgbClr val="667064"/>
                </a:solidFill>
                <a:latin typeface="Arial"/>
              </a:rPr>
              <a:t>여행 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272" y="1371600"/>
            <a:ext cx="475488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0">
                <a:solidFill>
                  <a:srgbClr val="667064"/>
                </a:solidFill>
                <a:latin typeface="Arial"/>
              </a:rPr>
              <a:t>기록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2624" y="1371600"/>
            <a:ext cx="475488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0">
                <a:solidFill>
                  <a:srgbClr val="667064"/>
                </a:solidFill>
                <a:latin typeface="Arial"/>
              </a:rPr>
              <a:t>라운지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22976" y="1371600"/>
            <a:ext cx="475488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0">
                <a:solidFill>
                  <a:srgbClr val="667064"/>
                </a:solidFill>
                <a:latin typeface="Arial"/>
              </a:rPr>
              <a:t>나의 목포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1709928"/>
            <a:ext cx="5486400" cy="201168"/>
          </a:xfrm>
          <a:prstGeom prst="rect">
            <a:avLst/>
          </a:prstGeom>
          <a:solidFill>
            <a:srgbClr val="F7F3EA"/>
          </a:solidFill>
          <a:ln>
            <a:solidFill>
              <a:srgbClr val="F7F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67512" y="1737360"/>
            <a:ext cx="566928" cy="128016"/>
          </a:xfrm>
          <a:prstGeom prst="roundRect">
            <a:avLst/>
          </a:prstGeom>
          <a:solidFill>
            <a:srgbClr val="E9E1CE"/>
          </a:solidFill>
          <a:ln>
            <a:solidFill>
              <a:srgbClr val="E9E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" y="1737360"/>
            <a:ext cx="457200" cy="1280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09" b="1">
                <a:solidFill>
                  <a:srgbClr val="2B4D72"/>
                </a:solidFill>
                <a:latin typeface="Arial"/>
              </a:rPr>
              <a:t>PROTOTYPE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1719072"/>
            <a:ext cx="169164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50" b="0">
                <a:solidFill>
                  <a:srgbClr val="667064"/>
                </a:solidFill>
                <a:latin typeface="Arial"/>
              </a:rPr>
              <a:t>실제 AI·관광·지도 API 연결 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2075688"/>
            <a:ext cx="137160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20" b="1">
                <a:solidFill>
                  <a:srgbClr val="667064"/>
                </a:solidFill>
                <a:latin typeface="Arial"/>
              </a:rPr>
              <a:t>01 / YOUR CONTEXT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2350008"/>
            <a:ext cx="21945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900" b="1">
                <a:solidFill>
                  <a:srgbClr val="17304A"/>
                </a:solidFill>
                <a:latin typeface="Arial"/>
              </a:rPr>
              <a:t>오늘의 여행을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2724912"/>
            <a:ext cx="22860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900" b="1">
                <a:solidFill>
                  <a:srgbClr val="17304A"/>
                </a:solidFill>
                <a:latin typeface="Arial"/>
              </a:rPr>
              <a:t>알려주세요.</a:t>
            </a:r>
          </a:p>
        </p:txBody>
      </p:sp>
      <p:pic>
        <p:nvPicPr>
          <p:cNvPr id="24" name="Picture 23" descr="mongpori-gree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80" y="2103120"/>
            <a:ext cx="1417320" cy="14173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2560320" y="3657600"/>
            <a:ext cx="2880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40" b="1">
                <a:solidFill>
                  <a:srgbClr val="17304A"/>
                </a:solidFill>
                <a:latin typeface="Arial"/>
              </a:rPr>
              <a:t>얼마나 머무를 예정인가요?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560320" y="3886200"/>
            <a:ext cx="713232" cy="228600"/>
          </a:xfrm>
          <a:prstGeom prst="roundRect">
            <a:avLst/>
          </a:prstGeom>
          <a:solidFill>
            <a:srgbClr val="E9E1CE"/>
          </a:solidFill>
          <a:ln>
            <a:solidFill>
              <a:srgbClr val="E9E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15184" y="3886200"/>
            <a:ext cx="603504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00" b="1">
                <a:solidFill>
                  <a:srgbClr val="17304A"/>
                </a:solidFill>
                <a:latin typeface="Arial"/>
              </a:rPr>
              <a:t>반나절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46703" y="3886200"/>
            <a:ext cx="713232" cy="228600"/>
          </a:xfrm>
          <a:prstGeom prst="roundRect">
            <a:avLst/>
          </a:prstGeom>
          <a:solidFill>
            <a:srgbClr val="E9E1CE"/>
          </a:solidFill>
          <a:ln>
            <a:solidFill>
              <a:srgbClr val="E9E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01568" y="3886200"/>
            <a:ext cx="603504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00" b="1">
                <a:solidFill>
                  <a:srgbClr val="17304A"/>
                </a:solidFill>
                <a:latin typeface="Arial"/>
              </a:rPr>
              <a:t>하루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33087" y="3886200"/>
            <a:ext cx="868680" cy="228600"/>
          </a:xfrm>
          <a:prstGeom prst="roundRect">
            <a:avLst/>
          </a:prstGeom>
          <a:solidFill>
            <a:srgbClr val="E9E1CE"/>
          </a:solidFill>
          <a:ln>
            <a:solidFill>
              <a:srgbClr val="E9E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87951" y="3886200"/>
            <a:ext cx="758952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00" b="1">
                <a:solidFill>
                  <a:srgbClr val="17304A"/>
                </a:solidFill>
                <a:latin typeface="Arial"/>
              </a:rPr>
              <a:t>1박 2일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60320" y="4270248"/>
            <a:ext cx="2880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40" b="1">
                <a:solidFill>
                  <a:srgbClr val="17304A"/>
                </a:solidFill>
                <a:latin typeface="Arial"/>
              </a:rPr>
              <a:t>1인 예산은 어느 정도인가요?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560320" y="4498848"/>
            <a:ext cx="868680" cy="228600"/>
          </a:xfrm>
          <a:prstGeom prst="roundRect">
            <a:avLst/>
          </a:prstGeom>
          <a:solidFill>
            <a:srgbClr val="E9E1CE"/>
          </a:solidFill>
          <a:ln>
            <a:solidFill>
              <a:srgbClr val="E9E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15184" y="4498848"/>
            <a:ext cx="758952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00" b="1">
                <a:solidFill>
                  <a:srgbClr val="17304A"/>
                </a:solidFill>
                <a:latin typeface="Arial"/>
              </a:rPr>
              <a:t>3만원 이하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502152" y="4498848"/>
            <a:ext cx="868680" cy="228600"/>
          </a:xfrm>
          <a:prstGeom prst="roundRect">
            <a:avLst/>
          </a:prstGeom>
          <a:solidFill>
            <a:srgbClr val="E9E1CE"/>
          </a:solidFill>
          <a:ln>
            <a:solidFill>
              <a:srgbClr val="E9E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57016" y="4498848"/>
            <a:ext cx="758952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00" b="1">
                <a:solidFill>
                  <a:srgbClr val="17304A"/>
                </a:solidFill>
                <a:latin typeface="Arial"/>
              </a:rPr>
              <a:t>3~5만원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443984" y="4498848"/>
            <a:ext cx="868680" cy="228600"/>
          </a:xfrm>
          <a:prstGeom prst="roundRect">
            <a:avLst/>
          </a:prstGeom>
          <a:solidFill>
            <a:srgbClr val="E9E1CE"/>
          </a:solidFill>
          <a:ln>
            <a:solidFill>
              <a:srgbClr val="E9E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98848" y="4498848"/>
            <a:ext cx="758952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00" b="1">
                <a:solidFill>
                  <a:srgbClr val="17304A"/>
                </a:solidFill>
                <a:latin typeface="Arial"/>
              </a:rPr>
              <a:t>5~10만원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60320" y="4882896"/>
            <a:ext cx="2880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40" b="1">
                <a:solidFill>
                  <a:srgbClr val="17304A"/>
                </a:solidFill>
                <a:latin typeface="Arial"/>
              </a:rPr>
              <a:t>누구와 함께 오셨나요?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560320" y="5111496"/>
            <a:ext cx="713232" cy="228600"/>
          </a:xfrm>
          <a:prstGeom prst="roundRect">
            <a:avLst/>
          </a:prstGeom>
          <a:solidFill>
            <a:srgbClr val="E9E1CE"/>
          </a:solidFill>
          <a:ln>
            <a:solidFill>
              <a:srgbClr val="E9E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615184" y="5111496"/>
            <a:ext cx="603504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00" b="1">
                <a:solidFill>
                  <a:srgbClr val="17304A"/>
                </a:solidFill>
                <a:latin typeface="Arial"/>
              </a:rPr>
              <a:t>혼자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346703" y="5111496"/>
            <a:ext cx="713232" cy="228600"/>
          </a:xfrm>
          <a:prstGeom prst="roundRect">
            <a:avLst/>
          </a:prstGeom>
          <a:solidFill>
            <a:srgbClr val="E9E1CE"/>
          </a:solidFill>
          <a:ln>
            <a:solidFill>
              <a:srgbClr val="E9E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01568" y="5111496"/>
            <a:ext cx="603504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00" b="1">
                <a:solidFill>
                  <a:srgbClr val="17304A"/>
                </a:solidFill>
                <a:latin typeface="Arial"/>
              </a:rPr>
              <a:t>연인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133087" y="5111496"/>
            <a:ext cx="713232" cy="228600"/>
          </a:xfrm>
          <a:prstGeom prst="roundRect">
            <a:avLst/>
          </a:prstGeom>
          <a:solidFill>
            <a:srgbClr val="E9E1CE"/>
          </a:solidFill>
          <a:ln>
            <a:solidFill>
              <a:srgbClr val="E9E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87951" y="5111496"/>
            <a:ext cx="603504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00" b="1">
                <a:solidFill>
                  <a:srgbClr val="17304A"/>
                </a:solidFill>
                <a:latin typeface="Arial"/>
              </a:rPr>
              <a:t>친구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919472" y="5111496"/>
            <a:ext cx="713232" cy="228600"/>
          </a:xfrm>
          <a:prstGeom prst="roundRect">
            <a:avLst/>
          </a:prstGeom>
          <a:solidFill>
            <a:srgbClr val="E9E1CE"/>
          </a:solidFill>
          <a:ln>
            <a:solidFill>
              <a:srgbClr val="E9E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74336" y="5111496"/>
            <a:ext cx="603504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00" b="1">
                <a:solidFill>
                  <a:srgbClr val="17304A"/>
                </a:solidFill>
                <a:latin typeface="Arial"/>
              </a:rPr>
              <a:t>가족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560320" y="5495544"/>
            <a:ext cx="2880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40" b="1">
                <a:solidFill>
                  <a:srgbClr val="17304A"/>
                </a:solidFill>
                <a:latin typeface="Arial"/>
              </a:rPr>
              <a:t>어떻게 이동하시나요?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560320" y="5724144"/>
            <a:ext cx="713232" cy="228600"/>
          </a:xfrm>
          <a:prstGeom prst="roundRect">
            <a:avLst/>
          </a:prstGeom>
          <a:solidFill>
            <a:srgbClr val="E9E1CE"/>
          </a:solidFill>
          <a:ln>
            <a:solidFill>
              <a:srgbClr val="E9E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615184" y="5724144"/>
            <a:ext cx="603504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00" b="1">
                <a:solidFill>
                  <a:srgbClr val="17304A"/>
                </a:solidFill>
                <a:latin typeface="Arial"/>
              </a:rPr>
              <a:t>도보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346703" y="5724144"/>
            <a:ext cx="713232" cy="228600"/>
          </a:xfrm>
          <a:prstGeom prst="roundRect">
            <a:avLst/>
          </a:prstGeom>
          <a:solidFill>
            <a:srgbClr val="E9E1CE"/>
          </a:solidFill>
          <a:ln>
            <a:solidFill>
              <a:srgbClr val="E9E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401568" y="5724144"/>
            <a:ext cx="603504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00" b="1">
                <a:solidFill>
                  <a:srgbClr val="17304A"/>
                </a:solidFill>
                <a:latin typeface="Arial"/>
              </a:rPr>
              <a:t>대중교통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133087" y="5724144"/>
            <a:ext cx="713232" cy="228600"/>
          </a:xfrm>
          <a:prstGeom prst="roundRect">
            <a:avLst/>
          </a:prstGeom>
          <a:solidFill>
            <a:srgbClr val="E9E1CE"/>
          </a:solidFill>
          <a:ln>
            <a:solidFill>
              <a:srgbClr val="E9E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87951" y="5724144"/>
            <a:ext cx="603504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00" b="1">
                <a:solidFill>
                  <a:srgbClr val="17304A"/>
                </a:solidFill>
                <a:latin typeface="Arial"/>
              </a:rPr>
              <a:t>자동차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560320" y="6007608"/>
            <a:ext cx="2880360" cy="384048"/>
          </a:xfrm>
          <a:prstGeom prst="round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615184" y="6007608"/>
            <a:ext cx="2770632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20" b="1">
                <a:solidFill>
                  <a:srgbClr val="FFFDF8"/>
                </a:solidFill>
                <a:latin typeface="Arial"/>
              </a:rPr>
              <a:t>이제, 내 취향 발견하기 →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199632" y="1234440"/>
            <a:ext cx="3200400" cy="5074920"/>
          </a:xfrm>
          <a:prstGeom prst="roundRect">
            <a:avLst/>
          </a:prstGeom>
          <a:solidFill>
            <a:srgbClr val="F7F3EA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46520" y="1481328"/>
            <a:ext cx="10972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2B4D72"/>
                </a:solidFill>
                <a:latin typeface="Arial"/>
              </a:rPr>
              <a:t>화면 설명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428232" y="1874519"/>
            <a:ext cx="2697480" cy="694944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6537960" y="1984248"/>
            <a:ext cx="329184" cy="329184"/>
          </a:xfrm>
          <a:prstGeom prst="round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92824" y="1984248"/>
            <a:ext cx="219456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DF8"/>
                </a:solidFill>
                <a:latin typeface="Arial"/>
              </a:rPr>
              <a:t>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958584" y="1947672"/>
            <a:ext cx="2057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30" b="0">
                <a:solidFill>
                  <a:srgbClr val="17304A"/>
                </a:solidFill>
                <a:latin typeface="Arial"/>
              </a:rPr>
              <a:t>체류시간: 반나절 / 하루 / 1박 2일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28232" y="2679191"/>
            <a:ext cx="2697480" cy="694944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6537960" y="2788920"/>
            <a:ext cx="329184" cy="329184"/>
          </a:xfrm>
          <a:prstGeom prst="round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592824" y="2788920"/>
            <a:ext cx="219456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DF8"/>
                </a:solidFill>
                <a:latin typeface="Arial"/>
              </a:rPr>
              <a:t>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958584" y="2752344"/>
            <a:ext cx="2057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30" b="0">
                <a:solidFill>
                  <a:srgbClr val="17304A"/>
                </a:solidFill>
                <a:latin typeface="Arial"/>
              </a:rPr>
              <a:t>1인 예산: 3만원 이하 / 3~5만원 / 5~10만원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428232" y="3483863"/>
            <a:ext cx="2697480" cy="694944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6537960" y="3593591"/>
            <a:ext cx="329184" cy="329184"/>
          </a:xfrm>
          <a:prstGeom prst="round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592824" y="3593591"/>
            <a:ext cx="219456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DF8"/>
                </a:solidFill>
                <a:latin typeface="Arial"/>
              </a:rPr>
              <a:t>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958584" y="3557015"/>
            <a:ext cx="2057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30" b="0">
                <a:solidFill>
                  <a:srgbClr val="17304A"/>
                </a:solidFill>
                <a:latin typeface="Arial"/>
              </a:rPr>
              <a:t>동행: 혼자 / 연인 / 친구 / 가족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428232" y="4288536"/>
            <a:ext cx="2697480" cy="694944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6537960" y="4398264"/>
            <a:ext cx="329184" cy="329184"/>
          </a:xfrm>
          <a:prstGeom prst="round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592824" y="4398264"/>
            <a:ext cx="219456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DF8"/>
                </a:solidFill>
                <a:latin typeface="Arial"/>
              </a:rPr>
              <a:t>4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958584" y="4361688"/>
            <a:ext cx="2057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30" b="0">
                <a:solidFill>
                  <a:srgbClr val="17304A"/>
                </a:solidFill>
                <a:latin typeface="Arial"/>
              </a:rPr>
              <a:t>이동: 도보 / 대중교통 / 자동차 → 다음 ‘취향 발견’으로 이동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132320" y="6510528"/>
            <a:ext cx="22860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750" b="0">
                <a:solidFill>
                  <a:srgbClr val="667064"/>
                </a:solidFill>
                <a:latin typeface="Arial"/>
              </a:rPr>
              <a:t>NOVA · 화면설계서 ·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411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F6B5E"/>
                </a:solidFill>
                <a:latin typeface="Arial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201168"/>
            <a:ext cx="4114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100" b="1">
                <a:solidFill>
                  <a:srgbClr val="17304A"/>
                </a:solidFill>
                <a:latin typeface="Arial"/>
              </a:rPr>
              <a:t>나의 취향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246888"/>
            <a:ext cx="356616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2B4D72"/>
                </a:solidFill>
                <a:latin typeface="Arial"/>
              </a:rPr>
              <a:t>PREF_01  ·  UC-01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80467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667064"/>
                </a:solidFill>
                <a:latin typeface="Arial"/>
              </a:rPr>
              <a:t>여행자의 선호를 12개 취향 태그에서 다중 선택해 이후 대화·테마·장소 추천에 반영합니다.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33271"/>
            <a:ext cx="8915400" cy="13716"/>
          </a:xfrm>
          <a:prstGeom prst="rect">
            <a:avLst/>
          </a:prstGeom>
          <a:solidFill>
            <a:srgbClr val="D8C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5486400" cy="5074920"/>
          </a:xfrm>
          <a:prstGeom prst="roundRect">
            <a:avLst/>
          </a:prstGeom>
          <a:solidFill>
            <a:srgbClr val="F2E9D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307592"/>
            <a:ext cx="13258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17304A"/>
                </a:solidFill>
                <a:latin typeface="Arial"/>
              </a:rPr>
              <a:t>목포 뭐 하지?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508760"/>
            <a:ext cx="822960" cy="91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50" b="1">
                <a:solidFill>
                  <a:srgbClr val="667064"/>
                </a:solidFill>
                <a:latin typeface="Arial"/>
              </a:rPr>
              <a:t>TEAM NOVA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371600"/>
            <a:ext cx="475488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0">
                <a:solidFill>
                  <a:srgbClr val="667064"/>
                </a:solidFill>
                <a:latin typeface="Arial"/>
              </a:rPr>
              <a:t>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42032" y="1371600"/>
            <a:ext cx="6400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1">
                <a:solidFill>
                  <a:srgbClr val="FF6B5E"/>
                </a:solidFill>
                <a:latin typeface="Arial"/>
              </a:rPr>
              <a:t>여행 만들기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6976" y="1371600"/>
            <a:ext cx="6400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0">
                <a:solidFill>
                  <a:srgbClr val="667064"/>
                </a:solidFill>
                <a:latin typeface="Arial"/>
              </a:rPr>
              <a:t>목포 탐색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1371600"/>
            <a:ext cx="475488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0">
                <a:solidFill>
                  <a:srgbClr val="667064"/>
                </a:solidFill>
                <a:latin typeface="Arial"/>
              </a:rPr>
              <a:t>여행 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272" y="1371600"/>
            <a:ext cx="475488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0">
                <a:solidFill>
                  <a:srgbClr val="667064"/>
                </a:solidFill>
                <a:latin typeface="Arial"/>
              </a:rPr>
              <a:t>기록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2624" y="1371600"/>
            <a:ext cx="475488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0">
                <a:solidFill>
                  <a:srgbClr val="667064"/>
                </a:solidFill>
                <a:latin typeface="Arial"/>
              </a:rPr>
              <a:t>라운지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22976" y="1371600"/>
            <a:ext cx="475488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0">
                <a:solidFill>
                  <a:srgbClr val="667064"/>
                </a:solidFill>
                <a:latin typeface="Arial"/>
              </a:rPr>
              <a:t>나의 목포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1709928"/>
            <a:ext cx="5486400" cy="201168"/>
          </a:xfrm>
          <a:prstGeom prst="rect">
            <a:avLst/>
          </a:prstGeom>
          <a:solidFill>
            <a:srgbClr val="F7F3EA"/>
          </a:solidFill>
          <a:ln>
            <a:solidFill>
              <a:srgbClr val="F7F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67512" y="1737360"/>
            <a:ext cx="566928" cy="128016"/>
          </a:xfrm>
          <a:prstGeom prst="roundRect">
            <a:avLst/>
          </a:prstGeom>
          <a:solidFill>
            <a:srgbClr val="E9E1CE"/>
          </a:solidFill>
          <a:ln>
            <a:solidFill>
              <a:srgbClr val="E9E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" y="1737360"/>
            <a:ext cx="457200" cy="1280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09" b="1">
                <a:solidFill>
                  <a:srgbClr val="2B4D72"/>
                </a:solidFill>
                <a:latin typeface="Arial"/>
              </a:rPr>
              <a:t>PROTOTYPE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1719072"/>
            <a:ext cx="169164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50" b="0">
                <a:solidFill>
                  <a:srgbClr val="667064"/>
                </a:solidFill>
                <a:latin typeface="Arial"/>
              </a:rPr>
              <a:t>실제 AI·관광·지도 API 연결 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2075688"/>
            <a:ext cx="12801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20" b="1">
                <a:solidFill>
                  <a:srgbClr val="667064"/>
                </a:solidFill>
                <a:latin typeface="Arial"/>
              </a:rPr>
              <a:t>02 / 나의 취향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2359152"/>
            <a:ext cx="283464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17304A"/>
                </a:solidFill>
                <a:latin typeface="Arial"/>
              </a:rPr>
              <a:t>오늘 어떤 목포를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2715768"/>
            <a:ext cx="283464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17304A"/>
                </a:solidFill>
                <a:latin typeface="Arial"/>
              </a:rPr>
              <a:t>만나고 싶나요?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3090672"/>
            <a:ext cx="329184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50" b="0">
                <a:solidFill>
                  <a:srgbClr val="667064"/>
                </a:solidFill>
                <a:latin typeface="Arial"/>
              </a:rPr>
              <a:t>여러 개 골라도, 아직 모르겠어도 괜찮아요.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3502152"/>
            <a:ext cx="1143000" cy="502920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584448"/>
            <a:ext cx="2286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2B4D72"/>
                </a:solidFill>
                <a:latin typeface="Arial"/>
              </a:rPr>
              <a:t>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" y="3575304"/>
            <a:ext cx="713232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550" b="0">
                <a:solidFill>
                  <a:srgbClr val="17304A"/>
                </a:solidFill>
                <a:latin typeface="Arial"/>
              </a:rPr>
              <a:t>조용한 여행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048256" y="3502152"/>
            <a:ext cx="1143000" cy="502920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21408" y="3584448"/>
            <a:ext cx="2286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2B4D72"/>
                </a:solidFill>
                <a:latin typeface="Arial"/>
              </a:rPr>
              <a:t>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40864" y="3575304"/>
            <a:ext cx="713232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550" b="0">
                <a:solidFill>
                  <a:srgbClr val="17304A"/>
                </a:solidFill>
                <a:latin typeface="Arial"/>
              </a:rPr>
              <a:t>미식 여행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19272" y="3502152"/>
            <a:ext cx="1143000" cy="502920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92424" y="3584448"/>
            <a:ext cx="2286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2B4D72"/>
                </a:solidFill>
                <a:latin typeface="Arial"/>
              </a:rPr>
              <a:t>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11879" y="3575304"/>
            <a:ext cx="713232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550" b="0">
                <a:solidFill>
                  <a:srgbClr val="17304A"/>
                </a:solidFill>
                <a:latin typeface="Arial"/>
              </a:rPr>
              <a:t>골목 여행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90288" y="3502152"/>
            <a:ext cx="1143000" cy="502920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63440" y="3584448"/>
            <a:ext cx="2286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2B4D72"/>
                </a:solidFill>
                <a:latin typeface="Arial"/>
              </a:rPr>
              <a:t>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82896" y="3575304"/>
            <a:ext cx="713232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550" b="0">
                <a:solidFill>
                  <a:srgbClr val="17304A"/>
                </a:solidFill>
                <a:latin typeface="Arial"/>
              </a:rPr>
              <a:t>카페 여행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4160520"/>
            <a:ext cx="1143000" cy="502920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0392" y="4242816"/>
            <a:ext cx="2286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2B4D72"/>
                </a:solidFill>
                <a:latin typeface="Arial"/>
              </a:rPr>
              <a:t>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9848" y="4233672"/>
            <a:ext cx="713232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550" b="0">
                <a:solidFill>
                  <a:srgbClr val="17304A"/>
                </a:solidFill>
                <a:latin typeface="Arial"/>
              </a:rPr>
              <a:t>바다·노을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048256" y="4160520"/>
            <a:ext cx="1143000" cy="502920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21408" y="4242816"/>
            <a:ext cx="2286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2B4D72"/>
                </a:solidFill>
                <a:latin typeface="Arial"/>
              </a:rPr>
              <a:t>▤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40864" y="4233672"/>
            <a:ext cx="713232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550" b="0">
                <a:solidFill>
                  <a:srgbClr val="17304A"/>
                </a:solidFill>
                <a:latin typeface="Arial"/>
              </a:rPr>
              <a:t>역사·문화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319272" y="4160520"/>
            <a:ext cx="1143000" cy="502920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92424" y="4242816"/>
            <a:ext cx="2286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2B4D72"/>
                </a:solidFill>
                <a:latin typeface="Arial"/>
              </a:rPr>
              <a:t>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11879" y="4233672"/>
            <a:ext cx="713232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550" b="0">
                <a:solidFill>
                  <a:srgbClr val="17304A"/>
                </a:solidFill>
                <a:latin typeface="Arial"/>
              </a:rPr>
              <a:t>활동적인 여행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90288" y="4160520"/>
            <a:ext cx="1143000" cy="502920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663440" y="4242816"/>
            <a:ext cx="2286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2B4D72"/>
                </a:solidFill>
                <a:latin typeface="Arial"/>
              </a:rPr>
              <a:t>♡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82896" y="4233672"/>
            <a:ext cx="713232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550" b="0">
                <a:solidFill>
                  <a:srgbClr val="17304A"/>
                </a:solidFill>
                <a:latin typeface="Arial"/>
              </a:rPr>
              <a:t>휴식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77240" y="4818888"/>
            <a:ext cx="1143000" cy="502920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0392" y="4901183"/>
            <a:ext cx="2286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2B4D72"/>
                </a:solidFill>
                <a:latin typeface="Arial"/>
              </a:rPr>
              <a:t>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69848" y="4892040"/>
            <a:ext cx="713232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550" b="0">
                <a:solidFill>
                  <a:srgbClr val="17304A"/>
                </a:solidFill>
                <a:latin typeface="Arial"/>
              </a:rPr>
              <a:t>축제·행사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048256" y="4818888"/>
            <a:ext cx="1143000" cy="502920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121408" y="4901183"/>
            <a:ext cx="2286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2B4D72"/>
                </a:solidFill>
                <a:latin typeface="Arial"/>
              </a:rPr>
              <a:t>⌂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40864" y="4892040"/>
            <a:ext cx="713232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550" b="0">
                <a:solidFill>
                  <a:srgbClr val="17304A"/>
                </a:solidFill>
                <a:latin typeface="Arial"/>
              </a:rPr>
              <a:t>현지인처럼 여행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319272" y="4818888"/>
            <a:ext cx="1143000" cy="502920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392424" y="4901183"/>
            <a:ext cx="2286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2B4D72"/>
                </a:solidFill>
                <a:latin typeface="Arial"/>
              </a:rPr>
              <a:t>◎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11879" y="4892040"/>
            <a:ext cx="713232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550" b="0">
                <a:solidFill>
                  <a:srgbClr val="17304A"/>
                </a:solidFill>
                <a:latin typeface="Arial"/>
              </a:rPr>
              <a:t>사진 찍기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590288" y="4818888"/>
            <a:ext cx="1143000" cy="502920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663440" y="4901183"/>
            <a:ext cx="2286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2B4D72"/>
                </a:solidFill>
                <a:latin typeface="Arial"/>
              </a:rPr>
              <a:t>⌁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882896" y="4892040"/>
            <a:ext cx="713232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550" b="0">
                <a:solidFill>
                  <a:srgbClr val="17304A"/>
                </a:solidFill>
                <a:latin typeface="Arial"/>
              </a:rPr>
              <a:t>걷기 적게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77240" y="5605272"/>
            <a:ext cx="3383280" cy="310896"/>
          </a:xfrm>
          <a:prstGeom prst="roundRect">
            <a:avLst/>
          </a:prstGeom>
          <a:solidFill>
            <a:srgbClr val="E9E1CE"/>
          </a:solidFill>
          <a:ln>
            <a:solidFill>
              <a:srgbClr val="E9E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32104" y="5605272"/>
            <a:ext cx="327355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80" b="1">
                <a:solidFill>
                  <a:srgbClr val="17304A"/>
                </a:solidFill>
                <a:latin typeface="Arial"/>
              </a:rPr>
              <a:t>내 여행의 색  ·  미식 여행  ·  바다·노을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474720" y="6035040"/>
            <a:ext cx="1874519" cy="384048"/>
          </a:xfrm>
          <a:prstGeom prst="round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529584" y="6035040"/>
            <a:ext cx="1764791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80" b="1">
                <a:solidFill>
                  <a:srgbClr val="FFFDF8"/>
                </a:solidFill>
                <a:latin typeface="Arial"/>
              </a:rPr>
              <a:t>몽포리와 이야기하기 →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199632" y="1234440"/>
            <a:ext cx="3200400" cy="5074920"/>
          </a:xfrm>
          <a:prstGeom prst="roundRect">
            <a:avLst/>
          </a:prstGeom>
          <a:solidFill>
            <a:srgbClr val="F7F3EA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46520" y="1481328"/>
            <a:ext cx="10972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2B4D72"/>
                </a:solidFill>
                <a:latin typeface="Arial"/>
              </a:rPr>
              <a:t>화면 설명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428232" y="1874519"/>
            <a:ext cx="2697480" cy="694944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6537960" y="1984248"/>
            <a:ext cx="329184" cy="329184"/>
          </a:xfrm>
          <a:prstGeom prst="round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592824" y="1984248"/>
            <a:ext cx="219456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DF8"/>
                </a:solidFill>
                <a:latin typeface="Arial"/>
              </a:rPr>
              <a:t>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958584" y="1947672"/>
            <a:ext cx="2057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30" b="0">
                <a:solidFill>
                  <a:srgbClr val="17304A"/>
                </a:solidFill>
                <a:latin typeface="Arial"/>
              </a:rPr>
              <a:t>조용한 여행·미식 여행·골목 여행·카페 여행 등 12개 취향을 제공한다.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428232" y="2679191"/>
            <a:ext cx="2697480" cy="694944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6537960" y="2788920"/>
            <a:ext cx="329184" cy="329184"/>
          </a:xfrm>
          <a:prstGeom prst="round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592824" y="2788920"/>
            <a:ext cx="219456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DF8"/>
                </a:solidFill>
                <a:latin typeface="Arial"/>
              </a:rPr>
              <a:t>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958584" y="2752344"/>
            <a:ext cx="2057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30" b="0">
                <a:solidFill>
                  <a:srgbClr val="17304A"/>
                </a:solidFill>
                <a:latin typeface="Arial"/>
              </a:rPr>
              <a:t>선택된 취향은 ‘내 여행의 색’으로 요약된다.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428232" y="3483863"/>
            <a:ext cx="2697480" cy="694944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6537960" y="3593591"/>
            <a:ext cx="329184" cy="329184"/>
          </a:xfrm>
          <a:prstGeom prst="round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592824" y="3593591"/>
            <a:ext cx="219456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DF8"/>
                </a:solidFill>
                <a:latin typeface="Arial"/>
              </a:rPr>
              <a:t>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958584" y="3557015"/>
            <a:ext cx="2057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30" b="0">
                <a:solidFill>
                  <a:srgbClr val="17304A"/>
                </a:solidFill>
                <a:latin typeface="Arial"/>
              </a:rPr>
              <a:t>취향이 없어도 ‘아직 모르겠어요 · 몽포리와 대화하기’로 진행할 수 있다.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428232" y="4288536"/>
            <a:ext cx="2697480" cy="694944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6537960" y="4398264"/>
            <a:ext cx="329184" cy="329184"/>
          </a:xfrm>
          <a:prstGeom prst="round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592824" y="4398264"/>
            <a:ext cx="219456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DF8"/>
                </a:solidFill>
                <a:latin typeface="Arial"/>
              </a:rPr>
              <a:t>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958584" y="4361688"/>
            <a:ext cx="2057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30" b="0">
                <a:solidFill>
                  <a:srgbClr val="17304A"/>
                </a:solidFill>
                <a:latin typeface="Arial"/>
              </a:rPr>
              <a:t>기획서의 개인화 요구를 실제 Prototype의 선택 UI로 구체화했다.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132320" y="6510528"/>
            <a:ext cx="22860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750" b="0">
                <a:solidFill>
                  <a:srgbClr val="667064"/>
                </a:solidFill>
                <a:latin typeface="Arial"/>
              </a:rPr>
              <a:t>NOVA · 화면설계서 ·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411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F6B5E"/>
                </a:solidFill>
                <a:latin typeface="Arial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201168"/>
            <a:ext cx="4114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100" b="1">
                <a:solidFill>
                  <a:srgbClr val="17304A"/>
                </a:solidFill>
                <a:latin typeface="Arial"/>
              </a:rPr>
              <a:t>몽포리 대화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246888"/>
            <a:ext cx="356616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2B4D72"/>
                </a:solidFill>
                <a:latin typeface="Arial"/>
              </a:rPr>
              <a:t>CHAT_01  ·  UC-01 / UC-03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80467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667064"/>
                </a:solidFill>
                <a:latin typeface="Arial"/>
              </a:rPr>
              <a:t>선택한 취향과 사용자의 자연어를 함께 살펴보고 #태그를 보강하는 실제 대화형 화면입니다.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33271"/>
            <a:ext cx="8915400" cy="13716"/>
          </a:xfrm>
          <a:prstGeom prst="rect">
            <a:avLst/>
          </a:prstGeom>
          <a:solidFill>
            <a:srgbClr val="D8C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5486400" cy="5074920"/>
          </a:xfrm>
          <a:prstGeom prst="roundRect">
            <a:avLst/>
          </a:prstGeom>
          <a:solidFill>
            <a:srgbClr val="F2E9D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307592"/>
            <a:ext cx="13258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17304A"/>
                </a:solidFill>
                <a:latin typeface="Arial"/>
              </a:rPr>
              <a:t>목포 뭐 하지?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508760"/>
            <a:ext cx="822960" cy="91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50" b="1">
                <a:solidFill>
                  <a:srgbClr val="667064"/>
                </a:solidFill>
                <a:latin typeface="Arial"/>
              </a:rPr>
              <a:t>TEAM NOVA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371600"/>
            <a:ext cx="475488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0">
                <a:solidFill>
                  <a:srgbClr val="667064"/>
                </a:solidFill>
                <a:latin typeface="Arial"/>
              </a:rPr>
              <a:t>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42032" y="1371600"/>
            <a:ext cx="6400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1">
                <a:solidFill>
                  <a:srgbClr val="FF6B5E"/>
                </a:solidFill>
                <a:latin typeface="Arial"/>
              </a:rPr>
              <a:t>여행 만들기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6976" y="1371600"/>
            <a:ext cx="6400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0">
                <a:solidFill>
                  <a:srgbClr val="667064"/>
                </a:solidFill>
                <a:latin typeface="Arial"/>
              </a:rPr>
              <a:t>목포 탐색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1371600"/>
            <a:ext cx="475488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0">
                <a:solidFill>
                  <a:srgbClr val="667064"/>
                </a:solidFill>
                <a:latin typeface="Arial"/>
              </a:rPr>
              <a:t>여행 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272" y="1371600"/>
            <a:ext cx="475488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0">
                <a:solidFill>
                  <a:srgbClr val="667064"/>
                </a:solidFill>
                <a:latin typeface="Arial"/>
              </a:rPr>
              <a:t>기록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2624" y="1371600"/>
            <a:ext cx="475488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0">
                <a:solidFill>
                  <a:srgbClr val="667064"/>
                </a:solidFill>
                <a:latin typeface="Arial"/>
              </a:rPr>
              <a:t>라운지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22976" y="1371600"/>
            <a:ext cx="475488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0">
                <a:solidFill>
                  <a:srgbClr val="667064"/>
                </a:solidFill>
                <a:latin typeface="Arial"/>
              </a:rPr>
              <a:t>나의 목포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1709928"/>
            <a:ext cx="5486400" cy="201168"/>
          </a:xfrm>
          <a:prstGeom prst="rect">
            <a:avLst/>
          </a:prstGeom>
          <a:solidFill>
            <a:srgbClr val="F7F3EA"/>
          </a:solidFill>
          <a:ln>
            <a:solidFill>
              <a:srgbClr val="F7F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67512" y="1737360"/>
            <a:ext cx="566928" cy="128016"/>
          </a:xfrm>
          <a:prstGeom prst="roundRect">
            <a:avLst/>
          </a:prstGeom>
          <a:solidFill>
            <a:srgbClr val="E9E1CE"/>
          </a:solidFill>
          <a:ln>
            <a:solidFill>
              <a:srgbClr val="E9E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" y="1737360"/>
            <a:ext cx="457200" cy="1280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09" b="1">
                <a:solidFill>
                  <a:srgbClr val="2B4D72"/>
                </a:solidFill>
                <a:latin typeface="Arial"/>
              </a:rPr>
              <a:t>PROTOTYPE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1719072"/>
            <a:ext cx="169164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50" b="0">
                <a:solidFill>
                  <a:srgbClr val="667064"/>
                </a:solidFill>
                <a:latin typeface="Arial"/>
              </a:rPr>
              <a:t>실제 AI·관광·지도 API 연결 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2075688"/>
            <a:ext cx="192024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20" b="1">
                <a:solidFill>
                  <a:srgbClr val="667064"/>
                </a:solidFill>
                <a:latin typeface="Arial"/>
              </a:rPr>
              <a:t>03 / TALK WITH MONGPORI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2359152"/>
            <a:ext cx="3108960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17304A"/>
                </a:solidFill>
                <a:latin typeface="Arial"/>
              </a:rPr>
              <a:t>취향이 여행이 되는 대화.</a:t>
            </a:r>
          </a:p>
        </p:txBody>
      </p:sp>
      <p:pic>
        <p:nvPicPr>
          <p:cNvPr id="23" name="Picture 22" descr="mongpori-liste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2075688"/>
            <a:ext cx="1234440" cy="1234440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2926080" y="3108960"/>
            <a:ext cx="2743200" cy="2697480"/>
          </a:xfrm>
          <a:prstGeom prst="roundRect">
            <a:avLst/>
          </a:prstGeom>
          <a:solidFill>
            <a:srgbClr val="F7F3EA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08960" y="3291840"/>
            <a:ext cx="22402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30" b="1">
                <a:solidFill>
                  <a:srgbClr val="2B4D72"/>
                </a:solidFill>
                <a:latin typeface="Arial"/>
              </a:rPr>
              <a:t>몽포리  ·  목포 AI 꼬마선장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108960" y="3721608"/>
            <a:ext cx="2103120" cy="475488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46120" y="3785616"/>
            <a:ext cx="1828800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570" b="0">
                <a:solidFill>
                  <a:srgbClr val="17304A"/>
                </a:solidFill>
                <a:latin typeface="Arial"/>
              </a:rPr>
              <a:t>미식 여행에 마음이 가셨군요.
오늘은 어떤 곳에서 시간을 보내고 싶나요?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74720" y="4389120"/>
            <a:ext cx="1691640" cy="347472"/>
          </a:xfrm>
          <a:prstGeom prst="roundRect">
            <a:avLst/>
          </a:prstGeom>
          <a:solidFill>
            <a:srgbClr val="E9E1CE"/>
          </a:solidFill>
          <a:ln>
            <a:solidFill>
              <a:srgbClr val="E9E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66160" y="4434840"/>
            <a:ext cx="15087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90" b="0">
                <a:solidFill>
                  <a:srgbClr val="17304A"/>
                </a:solidFill>
                <a:latin typeface="Arial"/>
              </a:rPr>
              <a:t>사람 많은 곳 말고 바다 보며 쉬고 싶어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54680" y="4937760"/>
            <a:ext cx="210312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520" b="1">
                <a:solidFill>
                  <a:srgbClr val="2B4D72"/>
                </a:solidFill>
                <a:latin typeface="Arial"/>
              </a:rPr>
              <a:t>#바다뷰  #조용한카페  #걷기적게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108960" y="5239512"/>
            <a:ext cx="2103120" cy="320040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46120" y="5303520"/>
            <a:ext cx="17830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509" b="0">
                <a:solidFill>
                  <a:srgbClr val="667064"/>
                </a:solidFill>
                <a:latin typeface="Arial"/>
              </a:rPr>
              <a:t>입력  ·  말로 알려줘도 좋아요.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108960" y="6035040"/>
            <a:ext cx="2103120" cy="365760"/>
          </a:xfrm>
          <a:prstGeom prst="round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63824" y="6035040"/>
            <a:ext cx="1993391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70" b="1">
                <a:solidFill>
                  <a:srgbClr val="FFFDF8"/>
                </a:solidFill>
                <a:latin typeface="Arial"/>
              </a:rPr>
              <a:t>내 취향으로 테마 보기 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99632" y="1234440"/>
            <a:ext cx="3200400" cy="5074920"/>
          </a:xfrm>
          <a:prstGeom prst="roundRect">
            <a:avLst/>
          </a:prstGeom>
          <a:solidFill>
            <a:srgbClr val="F7F3EA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1481328"/>
            <a:ext cx="10972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2B4D72"/>
                </a:solidFill>
                <a:latin typeface="Arial"/>
              </a:rPr>
              <a:t>화면 설명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28232" y="1874519"/>
            <a:ext cx="2697480" cy="694944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537960" y="1984248"/>
            <a:ext cx="329184" cy="329184"/>
          </a:xfrm>
          <a:prstGeom prst="round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92824" y="1984248"/>
            <a:ext cx="219456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DF8"/>
                </a:solidFill>
                <a:latin typeface="Arial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58584" y="1947672"/>
            <a:ext cx="2057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30" b="0">
                <a:solidFill>
                  <a:srgbClr val="17304A"/>
                </a:solidFill>
                <a:latin typeface="Arial"/>
              </a:rPr>
              <a:t>몽포리가 먼저 선택 취향을 확인하고 추가 질문을 한다.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28232" y="2679191"/>
            <a:ext cx="2697480" cy="694944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537960" y="2788920"/>
            <a:ext cx="329184" cy="329184"/>
          </a:xfrm>
          <a:prstGeom prst="round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2824" y="2788920"/>
            <a:ext cx="219456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DF8"/>
                </a:solidFill>
                <a:latin typeface="Arial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58584" y="2752344"/>
            <a:ext cx="2057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30" b="0">
                <a:solidFill>
                  <a:srgbClr val="17304A"/>
                </a:solidFill>
                <a:latin typeface="Arial"/>
              </a:rPr>
              <a:t>사용자는 자연어로 ‘사람 많은 곳 말고 바다 보며 쉬고 싶어’처럼 입력할 수 있다.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28232" y="3483863"/>
            <a:ext cx="2697480" cy="694944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537960" y="3593591"/>
            <a:ext cx="329184" cy="329184"/>
          </a:xfrm>
          <a:prstGeom prst="round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92824" y="3593591"/>
            <a:ext cx="219456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DF8"/>
                </a:solidFill>
                <a:latin typeface="Arial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58584" y="3557015"/>
            <a:ext cx="2057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30" b="0">
                <a:solidFill>
                  <a:srgbClr val="17304A"/>
                </a:solidFill>
                <a:latin typeface="Arial"/>
              </a:rPr>
              <a:t>Prototype에서는 실제 LLM 대신 키워드 규칙으로 #바다뷰·#조용한카페·#걷기적게 등을 추출한다.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28232" y="4288536"/>
            <a:ext cx="2697480" cy="694944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537960" y="4398264"/>
            <a:ext cx="329184" cy="329184"/>
          </a:xfrm>
          <a:prstGeom prst="round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92824" y="4398264"/>
            <a:ext cx="219456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DF8"/>
                </a:solidFill>
                <a:latin typeface="Arial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58584" y="4361688"/>
            <a:ext cx="2057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30" b="0">
                <a:solidFill>
                  <a:srgbClr val="17304A"/>
                </a:solidFill>
                <a:latin typeface="Arial"/>
              </a:rPr>
              <a:t>추출된 태그는 테마 및 장소 랭킹에 반영된다.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0" y="6510528"/>
            <a:ext cx="22860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750" b="0">
                <a:solidFill>
                  <a:srgbClr val="667064"/>
                </a:solidFill>
                <a:latin typeface="Arial"/>
              </a:rPr>
              <a:t>NOVA · 화면설계서 ·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411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F6B5E"/>
                </a:solidFill>
                <a:latin typeface="Arial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201168"/>
            <a:ext cx="4114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100" b="1">
                <a:solidFill>
                  <a:srgbClr val="17304A"/>
                </a:solidFill>
                <a:latin typeface="Arial"/>
              </a:rPr>
              <a:t>여행 테마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246888"/>
            <a:ext cx="356616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2B4D72"/>
                </a:solidFill>
                <a:latin typeface="Arial"/>
              </a:rPr>
              <a:t>THEME_01  ·  UC-03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80467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667064"/>
                </a:solidFill>
                <a:latin typeface="Arial"/>
              </a:rPr>
              <a:t>사용자의 Context·취향을 반영해 3개의 여행 에디션을 제안하고 하나를 선택합니다.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33271"/>
            <a:ext cx="8915400" cy="13716"/>
          </a:xfrm>
          <a:prstGeom prst="rect">
            <a:avLst/>
          </a:prstGeom>
          <a:solidFill>
            <a:srgbClr val="D8C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5486400" cy="5074920"/>
          </a:xfrm>
          <a:prstGeom prst="roundRect">
            <a:avLst/>
          </a:prstGeom>
          <a:solidFill>
            <a:srgbClr val="F2E9D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307592"/>
            <a:ext cx="13258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17304A"/>
                </a:solidFill>
                <a:latin typeface="Arial"/>
              </a:rPr>
              <a:t>목포 뭐 하지?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508760"/>
            <a:ext cx="822960" cy="91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50" b="1">
                <a:solidFill>
                  <a:srgbClr val="667064"/>
                </a:solidFill>
                <a:latin typeface="Arial"/>
              </a:rPr>
              <a:t>TEAM NOVA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371600"/>
            <a:ext cx="475488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0">
                <a:solidFill>
                  <a:srgbClr val="667064"/>
                </a:solidFill>
                <a:latin typeface="Arial"/>
              </a:rPr>
              <a:t>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42032" y="1371600"/>
            <a:ext cx="6400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1">
                <a:solidFill>
                  <a:srgbClr val="FF6B5E"/>
                </a:solidFill>
                <a:latin typeface="Arial"/>
              </a:rPr>
              <a:t>여행 만들기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6976" y="1371600"/>
            <a:ext cx="6400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0">
                <a:solidFill>
                  <a:srgbClr val="667064"/>
                </a:solidFill>
                <a:latin typeface="Arial"/>
              </a:rPr>
              <a:t>목포 탐색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1371600"/>
            <a:ext cx="475488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0">
                <a:solidFill>
                  <a:srgbClr val="667064"/>
                </a:solidFill>
                <a:latin typeface="Arial"/>
              </a:rPr>
              <a:t>여행 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272" y="1371600"/>
            <a:ext cx="475488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0">
                <a:solidFill>
                  <a:srgbClr val="667064"/>
                </a:solidFill>
                <a:latin typeface="Arial"/>
              </a:rPr>
              <a:t>기록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2624" y="1371600"/>
            <a:ext cx="475488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0">
                <a:solidFill>
                  <a:srgbClr val="667064"/>
                </a:solidFill>
                <a:latin typeface="Arial"/>
              </a:rPr>
              <a:t>라운지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22976" y="1371600"/>
            <a:ext cx="475488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0">
                <a:solidFill>
                  <a:srgbClr val="667064"/>
                </a:solidFill>
                <a:latin typeface="Arial"/>
              </a:rPr>
              <a:t>나의 목포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1709928"/>
            <a:ext cx="5486400" cy="201168"/>
          </a:xfrm>
          <a:prstGeom prst="rect">
            <a:avLst/>
          </a:prstGeom>
          <a:solidFill>
            <a:srgbClr val="F7F3EA"/>
          </a:solidFill>
          <a:ln>
            <a:solidFill>
              <a:srgbClr val="F7F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67512" y="1737360"/>
            <a:ext cx="566928" cy="128016"/>
          </a:xfrm>
          <a:prstGeom prst="roundRect">
            <a:avLst/>
          </a:prstGeom>
          <a:solidFill>
            <a:srgbClr val="E9E1CE"/>
          </a:solidFill>
          <a:ln>
            <a:solidFill>
              <a:srgbClr val="E9E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" y="1737360"/>
            <a:ext cx="457200" cy="1280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09" b="1">
                <a:solidFill>
                  <a:srgbClr val="2B4D72"/>
                </a:solidFill>
                <a:latin typeface="Arial"/>
              </a:rPr>
              <a:t>PROTOTYPE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1719072"/>
            <a:ext cx="169164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50" b="0">
                <a:solidFill>
                  <a:srgbClr val="667064"/>
                </a:solidFill>
                <a:latin typeface="Arial"/>
              </a:rPr>
              <a:t>실제 AI·관광·지도 API 연결 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2075688"/>
            <a:ext cx="192024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20" b="1">
                <a:solidFill>
                  <a:srgbClr val="667064"/>
                </a:solidFill>
                <a:latin typeface="Arial"/>
              </a:rPr>
              <a:t>04 / 오늘의 여행 에디션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2350008"/>
            <a:ext cx="329184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50" b="1">
                <a:solidFill>
                  <a:srgbClr val="17304A"/>
                </a:solidFill>
                <a:latin typeface="Arial"/>
              </a:rPr>
              <a:t>당신의 하루에 어울리는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2679192"/>
            <a:ext cx="274320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50" b="1">
                <a:solidFill>
                  <a:srgbClr val="17304A"/>
                </a:solidFill>
                <a:latin typeface="Arial"/>
              </a:rPr>
              <a:t>세 가지 목포.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3227832"/>
            <a:ext cx="4892040" cy="713232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stree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3300984"/>
            <a:ext cx="960120" cy="56692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965960" y="3337560"/>
            <a:ext cx="1371600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530" b="1">
                <a:solidFill>
                  <a:srgbClr val="667064"/>
                </a:solidFill>
                <a:latin typeface="Arial"/>
              </a:rPr>
              <a:t>SLOW &amp; LOCAL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3511296"/>
            <a:ext cx="20116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80" b="1">
                <a:solidFill>
                  <a:srgbClr val="17304A"/>
                </a:solidFill>
                <a:latin typeface="Arial"/>
              </a:rPr>
              <a:t>느린 오후 로컬 여행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965960" y="3739896"/>
            <a:ext cx="2331720" cy="146304"/>
          </a:xfrm>
          <a:prstGeom prst="roundRect">
            <a:avLst/>
          </a:prstGeom>
          <a:solidFill>
            <a:srgbClr val="E9E1CE"/>
          </a:solidFill>
          <a:ln>
            <a:solidFill>
              <a:srgbClr val="E9E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20824" y="3739896"/>
            <a:ext cx="2221991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09" b="1">
                <a:solidFill>
                  <a:srgbClr val="2B4D72"/>
                </a:solidFill>
                <a:latin typeface="Arial"/>
              </a:rPr>
              <a:t>#조용함  #현지인맛집  #골목감성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59" y="3483864"/>
            <a:ext cx="50292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30" b="1">
                <a:solidFill>
                  <a:srgbClr val="FF6B5E"/>
                </a:solidFill>
                <a:latin typeface="Arial"/>
              </a:rPr>
              <a:t>선택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4096512"/>
            <a:ext cx="4892040" cy="713232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harbo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4169664"/>
            <a:ext cx="960120" cy="56692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965960" y="4206240"/>
            <a:ext cx="1371600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530" b="1">
                <a:solidFill>
                  <a:srgbClr val="667064"/>
                </a:solidFill>
                <a:latin typeface="Arial"/>
              </a:rPr>
              <a:t>SEA &amp; SUNSET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65960" y="4379976"/>
            <a:ext cx="20116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80" b="1">
                <a:solidFill>
                  <a:srgbClr val="17304A"/>
                </a:solidFill>
                <a:latin typeface="Arial"/>
              </a:rPr>
              <a:t>바다와 노을의 하루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965960" y="4608576"/>
            <a:ext cx="2331720" cy="146304"/>
          </a:xfrm>
          <a:prstGeom prst="roundRect">
            <a:avLst/>
          </a:prstGeom>
          <a:solidFill>
            <a:srgbClr val="E9E1CE"/>
          </a:solidFill>
          <a:ln>
            <a:solidFill>
              <a:srgbClr val="E9E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20824" y="4608576"/>
            <a:ext cx="2221991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09" b="1">
                <a:solidFill>
                  <a:srgbClr val="2B4D72"/>
                </a:solidFill>
                <a:latin typeface="Arial"/>
              </a:rPr>
              <a:t>#조용함  #현지인맛집  #골목감성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37759" y="4352544"/>
            <a:ext cx="50292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30" b="1">
                <a:solidFill>
                  <a:srgbClr val="FF6B5E"/>
                </a:solidFill>
                <a:latin typeface="Arial"/>
              </a:rPr>
              <a:t>선택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" y="4965192"/>
            <a:ext cx="4892040" cy="713232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foo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5038344"/>
            <a:ext cx="960120" cy="566928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965960" y="5074920"/>
            <a:ext cx="1371600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530" b="1">
                <a:solidFill>
                  <a:srgbClr val="667064"/>
                </a:solidFill>
                <a:latin typeface="Arial"/>
              </a:rPr>
              <a:t>LOCAL TASTE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248655"/>
            <a:ext cx="20116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80" b="1">
                <a:solidFill>
                  <a:srgbClr val="17304A"/>
                </a:solidFill>
                <a:latin typeface="Arial"/>
              </a:rPr>
              <a:t>목포 한 끼와 골목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965960" y="5477256"/>
            <a:ext cx="2331720" cy="146304"/>
          </a:xfrm>
          <a:prstGeom prst="roundRect">
            <a:avLst/>
          </a:prstGeom>
          <a:solidFill>
            <a:srgbClr val="E9E1CE"/>
          </a:solidFill>
          <a:ln>
            <a:solidFill>
              <a:srgbClr val="E9E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020824" y="5477256"/>
            <a:ext cx="2221991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09" b="1">
                <a:solidFill>
                  <a:srgbClr val="2B4D72"/>
                </a:solidFill>
                <a:latin typeface="Arial"/>
              </a:rPr>
              <a:t>#조용함  #현지인맛집  #골목감성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37759" y="5221224"/>
            <a:ext cx="50292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30" b="1">
                <a:solidFill>
                  <a:srgbClr val="FF6B5E"/>
                </a:solidFill>
                <a:latin typeface="Arial"/>
              </a:rPr>
              <a:t>선택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611880" y="6126479"/>
            <a:ext cx="2057400" cy="384048"/>
          </a:xfrm>
          <a:prstGeom prst="round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66744" y="6126479"/>
            <a:ext cx="1947672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70" b="1">
                <a:solidFill>
                  <a:srgbClr val="FFFDF8"/>
                </a:solidFill>
                <a:latin typeface="Arial"/>
              </a:rPr>
              <a:t>이 테마로 장소 고르기 →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99632" y="1234440"/>
            <a:ext cx="3200400" cy="5074920"/>
          </a:xfrm>
          <a:prstGeom prst="roundRect">
            <a:avLst/>
          </a:prstGeom>
          <a:solidFill>
            <a:srgbClr val="F7F3EA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46520" y="1481328"/>
            <a:ext cx="10972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2B4D72"/>
                </a:solidFill>
                <a:latin typeface="Arial"/>
              </a:rPr>
              <a:t>화면 설명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28232" y="1874519"/>
            <a:ext cx="2697480" cy="694944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537960" y="1984248"/>
            <a:ext cx="329184" cy="329184"/>
          </a:xfrm>
          <a:prstGeom prst="round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92824" y="1984248"/>
            <a:ext cx="219456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DF8"/>
                </a:solidFill>
                <a:latin typeface="Arial"/>
              </a:rPr>
              <a:t>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58584" y="1947672"/>
            <a:ext cx="2057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30" b="0">
                <a:solidFill>
                  <a:srgbClr val="17304A"/>
                </a:solidFill>
                <a:latin typeface="Arial"/>
              </a:rPr>
              <a:t>SLOW &amp; LOCAL / SEA &amp; SUNSET / LOCAL TASTE 등 3개의 여행 분위기를 제공한다.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28232" y="2679191"/>
            <a:ext cx="2697480" cy="694944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6537960" y="2788920"/>
            <a:ext cx="329184" cy="329184"/>
          </a:xfrm>
          <a:prstGeom prst="round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92824" y="2788920"/>
            <a:ext cx="219456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DF8"/>
                </a:solidFill>
                <a:latin typeface="Arial"/>
              </a:rPr>
              <a:t>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58584" y="2752344"/>
            <a:ext cx="2057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30" b="0">
                <a:solidFill>
                  <a:srgbClr val="17304A"/>
                </a:solidFill>
                <a:latin typeface="Arial"/>
              </a:rPr>
              <a:t>각 테마는 대표 이미지·설명·태그로 구성된다.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28232" y="3483863"/>
            <a:ext cx="2697480" cy="694944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6537960" y="3593591"/>
            <a:ext cx="329184" cy="329184"/>
          </a:xfrm>
          <a:prstGeom prst="round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92824" y="3593591"/>
            <a:ext cx="219456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DF8"/>
                </a:solidFill>
                <a:latin typeface="Arial"/>
              </a:rPr>
              <a:t>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58584" y="3557015"/>
            <a:ext cx="2057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30" b="0">
                <a:solidFill>
                  <a:srgbClr val="17304A"/>
                </a:solidFill>
                <a:latin typeface="Arial"/>
              </a:rPr>
              <a:t>사용자가 테마를 선택하면 다음 장소 선택 단계의 기준이 된다.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428232" y="4288536"/>
            <a:ext cx="2697480" cy="694944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537960" y="4398264"/>
            <a:ext cx="329184" cy="329184"/>
          </a:xfrm>
          <a:prstGeom prst="round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592824" y="4398264"/>
            <a:ext cx="219456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DF8"/>
                </a:solidFill>
                <a:latin typeface="Arial"/>
              </a:rPr>
              <a:t>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958584" y="4361688"/>
            <a:ext cx="2057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30" b="0">
                <a:solidFill>
                  <a:srgbClr val="17304A"/>
                </a:solidFill>
                <a:latin typeface="Arial"/>
              </a:rPr>
              <a:t>기존 ‘AI 조건 분석’ 화면 대신 Prototype의 실제 개인화 중간 결과 화면으로 사용한다.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132320" y="6510528"/>
            <a:ext cx="22860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750" b="0">
                <a:solidFill>
                  <a:srgbClr val="667064"/>
                </a:solidFill>
                <a:latin typeface="Arial"/>
              </a:rPr>
              <a:t>NOVA · 화면설계서 ·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411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F6B5E"/>
                </a:solidFill>
                <a:latin typeface="Arial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201168"/>
            <a:ext cx="4114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100" b="1">
                <a:solidFill>
                  <a:srgbClr val="17304A"/>
                </a:solidFill>
                <a:latin typeface="Arial"/>
              </a:rPr>
              <a:t>장소 선택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246888"/>
            <a:ext cx="356616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2B4D72"/>
                </a:solidFill>
                <a:latin typeface="Arial"/>
              </a:rPr>
              <a:t>PLACE_01  ·  UC-03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80467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667064"/>
                </a:solidFill>
                <a:latin typeface="Arial"/>
              </a:rPr>
              <a:t>식당 → 카페 → 관광·산책 순으로 장소를 직접 고르고, 후보 비교·현지인 경험 데이터를 확인합니다.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33271"/>
            <a:ext cx="8915400" cy="13716"/>
          </a:xfrm>
          <a:prstGeom prst="rect">
            <a:avLst/>
          </a:prstGeom>
          <a:solidFill>
            <a:srgbClr val="D8C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5486400" cy="5074920"/>
          </a:xfrm>
          <a:prstGeom prst="roundRect">
            <a:avLst/>
          </a:prstGeom>
          <a:solidFill>
            <a:srgbClr val="F2E9D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307592"/>
            <a:ext cx="13258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17304A"/>
                </a:solidFill>
                <a:latin typeface="Arial"/>
              </a:rPr>
              <a:t>목포 뭐 하지?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508760"/>
            <a:ext cx="822960" cy="91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50" b="1">
                <a:solidFill>
                  <a:srgbClr val="667064"/>
                </a:solidFill>
                <a:latin typeface="Arial"/>
              </a:rPr>
              <a:t>TEAM NOVA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371600"/>
            <a:ext cx="475488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0">
                <a:solidFill>
                  <a:srgbClr val="667064"/>
                </a:solidFill>
                <a:latin typeface="Arial"/>
              </a:rPr>
              <a:t>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42032" y="1371600"/>
            <a:ext cx="6400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1">
                <a:solidFill>
                  <a:srgbClr val="FF6B5E"/>
                </a:solidFill>
                <a:latin typeface="Arial"/>
              </a:rPr>
              <a:t>여행 만들기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6976" y="1371600"/>
            <a:ext cx="6400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0">
                <a:solidFill>
                  <a:srgbClr val="667064"/>
                </a:solidFill>
                <a:latin typeface="Arial"/>
              </a:rPr>
              <a:t>목포 탐색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1371600"/>
            <a:ext cx="475488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0">
                <a:solidFill>
                  <a:srgbClr val="667064"/>
                </a:solidFill>
                <a:latin typeface="Arial"/>
              </a:rPr>
              <a:t>여행 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272" y="1371600"/>
            <a:ext cx="475488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0">
                <a:solidFill>
                  <a:srgbClr val="667064"/>
                </a:solidFill>
                <a:latin typeface="Arial"/>
              </a:rPr>
              <a:t>기록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2624" y="1371600"/>
            <a:ext cx="475488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0">
                <a:solidFill>
                  <a:srgbClr val="667064"/>
                </a:solidFill>
                <a:latin typeface="Arial"/>
              </a:rPr>
              <a:t>라운지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22976" y="1371600"/>
            <a:ext cx="475488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0">
                <a:solidFill>
                  <a:srgbClr val="667064"/>
                </a:solidFill>
                <a:latin typeface="Arial"/>
              </a:rPr>
              <a:t>나의 목포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1709928"/>
            <a:ext cx="5486400" cy="201168"/>
          </a:xfrm>
          <a:prstGeom prst="rect">
            <a:avLst/>
          </a:prstGeom>
          <a:solidFill>
            <a:srgbClr val="F7F3EA"/>
          </a:solidFill>
          <a:ln>
            <a:solidFill>
              <a:srgbClr val="F7F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67512" y="1737360"/>
            <a:ext cx="566928" cy="128016"/>
          </a:xfrm>
          <a:prstGeom prst="roundRect">
            <a:avLst/>
          </a:prstGeom>
          <a:solidFill>
            <a:srgbClr val="E9E1CE"/>
          </a:solidFill>
          <a:ln>
            <a:solidFill>
              <a:srgbClr val="E9E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" y="1737360"/>
            <a:ext cx="457200" cy="1280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09" b="1">
                <a:solidFill>
                  <a:srgbClr val="2B4D72"/>
                </a:solidFill>
                <a:latin typeface="Arial"/>
              </a:rPr>
              <a:t>PROTOTYPE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1719072"/>
            <a:ext cx="169164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50" b="0">
                <a:solidFill>
                  <a:srgbClr val="667064"/>
                </a:solidFill>
                <a:latin typeface="Arial"/>
              </a:rPr>
              <a:t>실제 AI·관광·지도 API 연결 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2075688"/>
            <a:ext cx="228600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20" b="1">
                <a:solidFill>
                  <a:srgbClr val="667064"/>
                </a:solidFill>
                <a:latin typeface="Arial"/>
              </a:rPr>
              <a:t>05 / YOUR CHOICE, YOUR DAY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2350008"/>
            <a:ext cx="2743200" cy="3017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7304A"/>
                </a:solidFill>
                <a:latin typeface="Arial"/>
              </a:rPr>
              <a:t>첫 번째, 맛있는 한 끼.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2715768"/>
            <a:ext cx="33832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30" b="0">
                <a:solidFill>
                  <a:srgbClr val="667064"/>
                </a:solidFill>
                <a:latin typeface="Arial"/>
              </a:rPr>
              <a:t>몽포리는 후보를 줄이고 이유를 설명해요.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3136392"/>
            <a:ext cx="1444752" cy="2423160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foo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3209544"/>
            <a:ext cx="1298448" cy="71323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68680" y="4023360"/>
            <a:ext cx="114300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90" b="1">
                <a:solidFill>
                  <a:srgbClr val="FF6B5E"/>
                </a:solidFill>
                <a:latin typeface="Arial"/>
              </a:rPr>
              <a:t>✦ 몽포리 추천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261104"/>
            <a:ext cx="114300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1">
                <a:solidFill>
                  <a:srgbClr val="17304A"/>
                </a:solidFill>
                <a:latin typeface="Arial"/>
              </a:rPr>
              <a:t>항구의 식탁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4617720"/>
            <a:ext cx="11887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40" b="0">
                <a:solidFill>
                  <a:srgbClr val="2B4D72"/>
                </a:solidFill>
                <a:latin typeface="Arial"/>
              </a:rPr>
              <a:t>#현지인맛집 #조용함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4937760"/>
            <a:ext cx="11887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80" b="1">
                <a:solidFill>
                  <a:srgbClr val="667064"/>
                </a:solidFill>
                <a:latin typeface="Arial"/>
              </a:rPr>
              <a:t>15,000원 · 이동 약 12분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41832" y="5276088"/>
            <a:ext cx="1078992" cy="256032"/>
          </a:xfrm>
          <a:prstGeom prst="roundRect">
            <a:avLst/>
          </a:prstGeom>
          <a:solidFill>
            <a:srgbClr val="E9E1CE"/>
          </a:solidFill>
          <a:ln>
            <a:solidFill>
              <a:srgbClr val="E9E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6696" y="5276088"/>
            <a:ext cx="969264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90" b="1">
                <a:solidFill>
                  <a:srgbClr val="2B4D72"/>
                </a:solidFill>
                <a:latin typeface="Arial"/>
              </a:rPr>
              <a:t>이 장소 선택 ＋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395728" y="3136392"/>
            <a:ext cx="1444752" cy="2423160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foo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0" y="3209544"/>
            <a:ext cx="1298448" cy="713232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487168" y="4023360"/>
            <a:ext cx="114300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90" b="1">
                <a:solidFill>
                  <a:srgbClr val="667064"/>
                </a:solidFill>
                <a:latin typeface="Arial"/>
              </a:rPr>
              <a:t>또 다른 선택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87168" y="4261104"/>
            <a:ext cx="114300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1">
                <a:solidFill>
                  <a:srgbClr val="17304A"/>
                </a:solidFill>
                <a:latin typeface="Arial"/>
              </a:rPr>
              <a:t>목포 미식상회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87168" y="4617720"/>
            <a:ext cx="11887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40" b="0">
                <a:solidFill>
                  <a:srgbClr val="2B4D72"/>
                </a:solidFill>
                <a:latin typeface="Arial"/>
              </a:rPr>
              <a:t>#현지인맛집 #조용함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87168" y="4937760"/>
            <a:ext cx="11887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80" b="1">
                <a:solidFill>
                  <a:srgbClr val="667064"/>
                </a:solidFill>
                <a:latin typeface="Arial"/>
              </a:rPr>
              <a:t>24,000원 · 이동 약 12분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560320" y="5276088"/>
            <a:ext cx="1078992" cy="256032"/>
          </a:xfrm>
          <a:prstGeom prst="roundRect">
            <a:avLst/>
          </a:prstGeom>
          <a:solidFill>
            <a:srgbClr val="E9E1CE"/>
          </a:solidFill>
          <a:ln>
            <a:solidFill>
              <a:srgbClr val="E9E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15184" y="5276088"/>
            <a:ext cx="969264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90" b="1">
                <a:solidFill>
                  <a:srgbClr val="2B4D72"/>
                </a:solidFill>
                <a:latin typeface="Arial"/>
              </a:rPr>
              <a:t>이 장소 선택 ＋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014216" y="3136392"/>
            <a:ext cx="1444752" cy="2423160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foo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7368" y="3209544"/>
            <a:ext cx="1298448" cy="713232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4105656" y="4023360"/>
            <a:ext cx="114300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90" b="1">
                <a:solidFill>
                  <a:srgbClr val="667064"/>
                </a:solidFill>
                <a:latin typeface="Arial"/>
              </a:rPr>
              <a:t>또 다른 선택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05656" y="4261104"/>
            <a:ext cx="114300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1">
                <a:solidFill>
                  <a:srgbClr val="17304A"/>
                </a:solidFill>
                <a:latin typeface="Arial"/>
              </a:rPr>
              <a:t>골목 한 끼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05656" y="4617720"/>
            <a:ext cx="11887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40" b="0">
                <a:solidFill>
                  <a:srgbClr val="2B4D72"/>
                </a:solidFill>
                <a:latin typeface="Arial"/>
              </a:rPr>
              <a:t>#현지인맛집 #조용함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05656" y="4937760"/>
            <a:ext cx="11887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80" b="1">
                <a:solidFill>
                  <a:srgbClr val="667064"/>
                </a:solidFill>
                <a:latin typeface="Arial"/>
              </a:rPr>
              <a:t>9,000원 · 이동 약 12분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178808" y="5276088"/>
            <a:ext cx="1078992" cy="256032"/>
          </a:xfrm>
          <a:prstGeom prst="roundRect">
            <a:avLst/>
          </a:prstGeom>
          <a:solidFill>
            <a:srgbClr val="E9E1CE"/>
          </a:solidFill>
          <a:ln>
            <a:solidFill>
              <a:srgbClr val="E9E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33672" y="5276088"/>
            <a:ext cx="969264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90" b="1">
                <a:solidFill>
                  <a:srgbClr val="2B4D72"/>
                </a:solidFill>
                <a:latin typeface="Arial"/>
              </a:rPr>
              <a:t>이 장소 선택 ＋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77240" y="5824727"/>
            <a:ext cx="4892040" cy="438912"/>
          </a:xfrm>
          <a:prstGeom prst="roundRect">
            <a:avLst/>
          </a:prstGeom>
          <a:solidFill>
            <a:srgbClr val="355F70"/>
          </a:solidFill>
          <a:ln>
            <a:solidFill>
              <a:srgbClr val="355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41832" y="5925312"/>
            <a:ext cx="33832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580" b="1">
                <a:solidFill>
                  <a:srgbClr val="FFFDF8"/>
                </a:solidFill>
                <a:latin typeface="Arial"/>
              </a:rPr>
              <a:t>1곳 선택   ·   15,000원   ·   사용 가능 4시간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72000" y="5879592"/>
            <a:ext cx="914400" cy="274320"/>
          </a:xfrm>
          <a:prstGeom prst="roundRect">
            <a:avLst/>
          </a:prstGeom>
          <a:solidFill>
            <a:srgbClr val="FFFDF8"/>
          </a:solidFill>
          <a:ln>
            <a:solidFill>
              <a:srgbClr val="FFF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626864" y="5879592"/>
            <a:ext cx="804672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00" b="1">
                <a:solidFill>
                  <a:srgbClr val="2B4D72"/>
                </a:solidFill>
                <a:latin typeface="Arial"/>
              </a:rPr>
              <a:t>다음 장소 →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199632" y="1234440"/>
            <a:ext cx="3200400" cy="5074920"/>
          </a:xfrm>
          <a:prstGeom prst="roundRect">
            <a:avLst/>
          </a:prstGeom>
          <a:solidFill>
            <a:srgbClr val="F7F3EA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46520" y="1481328"/>
            <a:ext cx="10972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2B4D72"/>
                </a:solidFill>
                <a:latin typeface="Arial"/>
              </a:rPr>
              <a:t>화면 설명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28232" y="1874519"/>
            <a:ext cx="2697480" cy="694944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6537960" y="1984248"/>
            <a:ext cx="329184" cy="329184"/>
          </a:xfrm>
          <a:prstGeom prst="round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92824" y="1984248"/>
            <a:ext cx="219456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DF8"/>
                </a:solidFill>
                <a:latin typeface="Arial"/>
              </a:rPr>
              <a:t>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58584" y="1947672"/>
            <a:ext cx="2057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30" b="0">
                <a:solidFill>
                  <a:srgbClr val="17304A"/>
                </a:solidFill>
                <a:latin typeface="Arial"/>
              </a:rPr>
              <a:t>카테고리 탭으로 식당·카페·관광·산책 후보를 전환한다.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428232" y="2679191"/>
            <a:ext cx="2697480" cy="694944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6537960" y="2788920"/>
            <a:ext cx="329184" cy="329184"/>
          </a:xfrm>
          <a:prstGeom prst="round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592824" y="2788920"/>
            <a:ext cx="219456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DF8"/>
                </a:solidFill>
                <a:latin typeface="Arial"/>
              </a:rPr>
              <a:t>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958584" y="2752344"/>
            <a:ext cx="2057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30" b="0">
                <a:solidFill>
                  <a:srgbClr val="17304A"/>
                </a:solidFill>
                <a:latin typeface="Arial"/>
              </a:rPr>
              <a:t>장소 카드에 가격·이동시간·태그·추천 이유를 제공한다.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28232" y="3483863"/>
            <a:ext cx="2697480" cy="694944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6537960" y="3593591"/>
            <a:ext cx="329184" cy="329184"/>
          </a:xfrm>
          <a:prstGeom prst="round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592824" y="3593591"/>
            <a:ext cx="219456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DF8"/>
                </a:solidFill>
                <a:latin typeface="Arial"/>
              </a:rPr>
              <a:t>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958584" y="3557015"/>
            <a:ext cx="2057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30" b="0">
                <a:solidFill>
                  <a:srgbClr val="17304A"/>
                </a:solidFill>
                <a:latin typeface="Arial"/>
              </a:rPr>
              <a:t>‘현지인 경험 데이터 보기’에서 추천도·방문빈도·재방문 의향·웨이팅·혼밥·주차 등을 확인한다.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428232" y="4288536"/>
            <a:ext cx="2697480" cy="694944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6537960" y="4398264"/>
            <a:ext cx="329184" cy="329184"/>
          </a:xfrm>
          <a:prstGeom prst="round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592824" y="4398264"/>
            <a:ext cx="219456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DF8"/>
                </a:solidFill>
                <a:latin typeface="Arial"/>
              </a:rPr>
              <a:t>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958584" y="4361688"/>
            <a:ext cx="2057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30" b="0">
                <a:solidFill>
                  <a:srgbClr val="17304A"/>
                </a:solidFill>
                <a:latin typeface="Arial"/>
              </a:rPr>
              <a:t>3곳 비교하기와 장소별 교체/선택으로 사용자의 최종 선택을 지원한다.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132320" y="6510528"/>
            <a:ext cx="22860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750" b="0">
                <a:solidFill>
                  <a:srgbClr val="667064"/>
                </a:solidFill>
                <a:latin typeface="Arial"/>
              </a:rPr>
              <a:t>NOVA · 화면설계서 ·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411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F6B5E"/>
                </a:solidFill>
                <a:latin typeface="Arial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201168"/>
            <a:ext cx="4114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100" b="1">
                <a:solidFill>
                  <a:srgbClr val="17304A"/>
                </a:solidFill>
                <a:latin typeface="Arial"/>
              </a:rPr>
              <a:t>코스 생성 로딩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246888"/>
            <a:ext cx="356616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2B4D72"/>
                </a:solidFill>
                <a:latin typeface="Arial"/>
              </a:rPr>
              <a:t>LOADING_01  ·  UC-03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80467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667064"/>
                </a:solidFill>
                <a:latin typeface="Arial"/>
              </a:rPr>
              <a:t>선택한 장소들을 하나의 항로로 연결하면서 이동·영업시간·예산을 계산하는 전환 화면입니다.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33271"/>
            <a:ext cx="8915400" cy="13716"/>
          </a:xfrm>
          <a:prstGeom prst="rect">
            <a:avLst/>
          </a:prstGeom>
          <a:solidFill>
            <a:srgbClr val="D8C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5486400" cy="5074920"/>
          </a:xfrm>
          <a:prstGeom prst="roundRect">
            <a:avLst/>
          </a:prstGeom>
          <a:solidFill>
            <a:srgbClr val="F2E9D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307592"/>
            <a:ext cx="13258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17304A"/>
                </a:solidFill>
                <a:latin typeface="Arial"/>
              </a:rPr>
              <a:t>목포 뭐 하지?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508760"/>
            <a:ext cx="822960" cy="91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50" b="1">
                <a:solidFill>
                  <a:srgbClr val="667064"/>
                </a:solidFill>
                <a:latin typeface="Arial"/>
              </a:rPr>
              <a:t>TEAM NOVA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371600"/>
            <a:ext cx="475488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0">
                <a:solidFill>
                  <a:srgbClr val="667064"/>
                </a:solidFill>
                <a:latin typeface="Arial"/>
              </a:rPr>
              <a:t>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42032" y="1371600"/>
            <a:ext cx="6400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1">
                <a:solidFill>
                  <a:srgbClr val="FF6B5E"/>
                </a:solidFill>
                <a:latin typeface="Arial"/>
              </a:rPr>
              <a:t>여행 만들기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6976" y="1371600"/>
            <a:ext cx="6400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0">
                <a:solidFill>
                  <a:srgbClr val="667064"/>
                </a:solidFill>
                <a:latin typeface="Arial"/>
              </a:rPr>
              <a:t>목포 탐색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1371600"/>
            <a:ext cx="475488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0">
                <a:solidFill>
                  <a:srgbClr val="667064"/>
                </a:solidFill>
                <a:latin typeface="Arial"/>
              </a:rPr>
              <a:t>여행 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272" y="1371600"/>
            <a:ext cx="475488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0">
                <a:solidFill>
                  <a:srgbClr val="667064"/>
                </a:solidFill>
                <a:latin typeface="Arial"/>
              </a:rPr>
              <a:t>기록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2624" y="1371600"/>
            <a:ext cx="475488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0">
                <a:solidFill>
                  <a:srgbClr val="667064"/>
                </a:solidFill>
                <a:latin typeface="Arial"/>
              </a:rPr>
              <a:t>라운지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22976" y="1371600"/>
            <a:ext cx="475488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0">
                <a:solidFill>
                  <a:srgbClr val="667064"/>
                </a:solidFill>
                <a:latin typeface="Arial"/>
              </a:rPr>
              <a:t>나의 목포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1709928"/>
            <a:ext cx="5486400" cy="201168"/>
          </a:xfrm>
          <a:prstGeom prst="rect">
            <a:avLst/>
          </a:prstGeom>
          <a:solidFill>
            <a:srgbClr val="F7F3EA"/>
          </a:solidFill>
          <a:ln>
            <a:solidFill>
              <a:srgbClr val="F7F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67512" y="1737360"/>
            <a:ext cx="566928" cy="128016"/>
          </a:xfrm>
          <a:prstGeom prst="roundRect">
            <a:avLst/>
          </a:prstGeom>
          <a:solidFill>
            <a:srgbClr val="E9E1CE"/>
          </a:solidFill>
          <a:ln>
            <a:solidFill>
              <a:srgbClr val="E9E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" y="1737360"/>
            <a:ext cx="457200" cy="1280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09" b="1">
                <a:solidFill>
                  <a:srgbClr val="2B4D72"/>
                </a:solidFill>
                <a:latin typeface="Arial"/>
              </a:rPr>
              <a:t>PROTOTYPE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1719072"/>
            <a:ext cx="169164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50" b="0">
                <a:solidFill>
                  <a:srgbClr val="667064"/>
                </a:solidFill>
                <a:latin typeface="Arial"/>
              </a:rPr>
              <a:t>실제 AI·관광·지도 API 연결 전</a:t>
            </a:r>
          </a:p>
        </p:txBody>
      </p:sp>
      <p:pic>
        <p:nvPicPr>
          <p:cNvPr id="21" name="Picture 20" descr="mongpori-comp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39" y="2313432"/>
            <a:ext cx="1737360" cy="17373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325880" y="4114800"/>
            <a:ext cx="3840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17304A"/>
                </a:solidFill>
                <a:latin typeface="Arial"/>
              </a:rPr>
              <a:t>당신의 선택을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462272"/>
            <a:ext cx="4480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17304A"/>
                </a:solidFill>
                <a:latin typeface="Arial"/>
              </a:rPr>
              <a:t>하나의 항로로 잇고 있어요.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417320" y="5120640"/>
            <a:ext cx="3840480" cy="109728"/>
          </a:xfrm>
          <a:prstGeom prst="roundRect">
            <a:avLst/>
          </a:prstGeom>
          <a:solidFill>
            <a:srgbClr val="E9E1CE"/>
          </a:solidFill>
          <a:ln>
            <a:solidFill>
              <a:srgbClr val="E9E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417320" y="5120640"/>
            <a:ext cx="3063240" cy="109728"/>
          </a:xfrm>
          <a:prstGeom prst="round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5376672"/>
            <a:ext cx="3840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80" b="0">
                <a:solidFill>
                  <a:srgbClr val="667064"/>
                </a:solidFill>
                <a:latin typeface="Arial"/>
              </a:rPr>
              <a:t>샘플 이동·영업시간·예산을 계산하는 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5641848"/>
            <a:ext cx="3840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30" b="0">
                <a:solidFill>
                  <a:srgbClr val="667064"/>
                </a:solidFill>
                <a:latin typeface="Arial"/>
              </a:rPr>
              <a:t>실제 LLM / 지도 / 운영정보 API 연결 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9632" y="1234440"/>
            <a:ext cx="3200400" cy="5074920"/>
          </a:xfrm>
          <a:prstGeom prst="roundRect">
            <a:avLst/>
          </a:prstGeom>
          <a:solidFill>
            <a:srgbClr val="F7F3EA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1481328"/>
            <a:ext cx="10972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2B4D72"/>
                </a:solidFill>
                <a:latin typeface="Arial"/>
              </a:rPr>
              <a:t>화면 설명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28232" y="1874519"/>
            <a:ext cx="2697480" cy="694944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37960" y="1984248"/>
            <a:ext cx="329184" cy="329184"/>
          </a:xfrm>
          <a:prstGeom prst="round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92824" y="1984248"/>
            <a:ext cx="219456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DF8"/>
                </a:solidFill>
                <a:latin typeface="Arial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58584" y="1947672"/>
            <a:ext cx="2057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30" b="0">
                <a:solidFill>
                  <a:srgbClr val="17304A"/>
                </a:solidFill>
                <a:latin typeface="Arial"/>
              </a:rPr>
              <a:t>몽포리 별 나침반을 중심으로 브랜드 경험을 강화한다.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28232" y="2679191"/>
            <a:ext cx="2697480" cy="694944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537960" y="2788920"/>
            <a:ext cx="329184" cy="329184"/>
          </a:xfrm>
          <a:prstGeom prst="round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92824" y="2788920"/>
            <a:ext cx="219456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DF8"/>
                </a:solidFill>
                <a:latin typeface="Arial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58584" y="2752344"/>
            <a:ext cx="2057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30" b="0">
                <a:solidFill>
                  <a:srgbClr val="17304A"/>
                </a:solidFill>
                <a:latin typeface="Arial"/>
              </a:rPr>
              <a:t>‘하나의 항로로 잇고 있어요’라는 메시지로 AI Agent의 계획 생성 과정을 표현한다.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28232" y="3483863"/>
            <a:ext cx="2697480" cy="694944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537960" y="3593591"/>
            <a:ext cx="329184" cy="329184"/>
          </a:xfrm>
          <a:prstGeom prst="round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92824" y="3593591"/>
            <a:ext cx="219456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DF8"/>
                </a:solidFill>
                <a:latin typeface="Arial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58584" y="3557015"/>
            <a:ext cx="2057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30" b="0">
                <a:solidFill>
                  <a:srgbClr val="17304A"/>
                </a:solidFill>
                <a:latin typeface="Arial"/>
              </a:rPr>
              <a:t>실제 Prototype에서는 샘플 이동·영업시간·예산 계산으로 시연한다.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28232" y="4288536"/>
            <a:ext cx="2697480" cy="694944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537960" y="4398264"/>
            <a:ext cx="329184" cy="329184"/>
          </a:xfrm>
          <a:prstGeom prst="round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92824" y="4398264"/>
            <a:ext cx="219456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DF8"/>
                </a:solidFill>
                <a:latin typeface="Arial"/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58584" y="4361688"/>
            <a:ext cx="2057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30" b="0">
                <a:solidFill>
                  <a:srgbClr val="17304A"/>
                </a:solidFill>
                <a:latin typeface="Arial"/>
              </a:rPr>
              <a:t>API 연동 후에는 실제 지도·운영정보 기반 계산으로 확장한다.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32320" y="6510528"/>
            <a:ext cx="22860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750" b="0">
                <a:solidFill>
                  <a:srgbClr val="667064"/>
                </a:solidFill>
                <a:latin typeface="Arial"/>
              </a:rPr>
              <a:t>NOVA · 화면설계서 ·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411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F6B5E"/>
                </a:solidFill>
                <a:latin typeface="Arial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201168"/>
            <a:ext cx="4114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100" b="1">
                <a:solidFill>
                  <a:srgbClr val="17304A"/>
                </a:solidFill>
                <a:latin typeface="Arial"/>
              </a:rPr>
              <a:t>코스 완성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246888"/>
            <a:ext cx="356616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2B4D72"/>
                </a:solidFill>
                <a:latin typeface="Arial"/>
              </a:rPr>
              <a:t>RESULT_01  ·  UC-03 / UC-04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80467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667064"/>
                </a:solidFill>
                <a:latin typeface="Arial"/>
              </a:rPr>
              <a:t>선택한 장소를 지도·타임라인·비용·이동시간과 함께 하나의 ‘오늘의 나만의 목포’로 보여주는 핵심 결과 화면입니다.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33271"/>
            <a:ext cx="8915400" cy="13716"/>
          </a:xfrm>
          <a:prstGeom prst="rect">
            <a:avLst/>
          </a:prstGeom>
          <a:solidFill>
            <a:srgbClr val="D8C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5486400" cy="5074920"/>
          </a:xfrm>
          <a:prstGeom prst="roundRect">
            <a:avLst/>
          </a:prstGeom>
          <a:solidFill>
            <a:srgbClr val="F2E9D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307592"/>
            <a:ext cx="13258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17304A"/>
                </a:solidFill>
                <a:latin typeface="Arial"/>
              </a:rPr>
              <a:t>목포 뭐 하지?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508760"/>
            <a:ext cx="822960" cy="91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50" b="1">
                <a:solidFill>
                  <a:srgbClr val="667064"/>
                </a:solidFill>
                <a:latin typeface="Arial"/>
              </a:rPr>
              <a:t>TEAM NOVA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371600"/>
            <a:ext cx="475488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0">
                <a:solidFill>
                  <a:srgbClr val="667064"/>
                </a:solidFill>
                <a:latin typeface="Arial"/>
              </a:rPr>
              <a:t>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42032" y="1371600"/>
            <a:ext cx="6400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1">
                <a:solidFill>
                  <a:srgbClr val="FF6B5E"/>
                </a:solidFill>
                <a:latin typeface="Arial"/>
              </a:rPr>
              <a:t>여행 만들기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6976" y="1371600"/>
            <a:ext cx="6400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0">
                <a:solidFill>
                  <a:srgbClr val="667064"/>
                </a:solidFill>
                <a:latin typeface="Arial"/>
              </a:rPr>
              <a:t>목포 탐색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1371600"/>
            <a:ext cx="475488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0">
                <a:solidFill>
                  <a:srgbClr val="667064"/>
                </a:solidFill>
                <a:latin typeface="Arial"/>
              </a:rPr>
              <a:t>여행 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272" y="1371600"/>
            <a:ext cx="475488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0">
                <a:solidFill>
                  <a:srgbClr val="667064"/>
                </a:solidFill>
                <a:latin typeface="Arial"/>
              </a:rPr>
              <a:t>기록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2624" y="1371600"/>
            <a:ext cx="475488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0">
                <a:solidFill>
                  <a:srgbClr val="667064"/>
                </a:solidFill>
                <a:latin typeface="Arial"/>
              </a:rPr>
              <a:t>라운지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22976" y="1371600"/>
            <a:ext cx="475488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0">
                <a:solidFill>
                  <a:srgbClr val="667064"/>
                </a:solidFill>
                <a:latin typeface="Arial"/>
              </a:rPr>
              <a:t>나의 목포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1709928"/>
            <a:ext cx="5486400" cy="201168"/>
          </a:xfrm>
          <a:prstGeom prst="rect">
            <a:avLst/>
          </a:prstGeom>
          <a:solidFill>
            <a:srgbClr val="F7F3EA"/>
          </a:solidFill>
          <a:ln>
            <a:solidFill>
              <a:srgbClr val="F7F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67512" y="1737360"/>
            <a:ext cx="566928" cy="128016"/>
          </a:xfrm>
          <a:prstGeom prst="roundRect">
            <a:avLst/>
          </a:prstGeom>
          <a:solidFill>
            <a:srgbClr val="E9E1CE"/>
          </a:solidFill>
          <a:ln>
            <a:solidFill>
              <a:srgbClr val="E9E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" y="1737360"/>
            <a:ext cx="457200" cy="1280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09" b="1">
                <a:solidFill>
                  <a:srgbClr val="2B4D72"/>
                </a:solidFill>
                <a:latin typeface="Arial"/>
              </a:rPr>
              <a:t>PROTOTYPE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1719072"/>
            <a:ext cx="169164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50" b="0">
                <a:solidFill>
                  <a:srgbClr val="667064"/>
                </a:solidFill>
                <a:latin typeface="Arial"/>
              </a:rPr>
              <a:t>실제 AI·관광·지도 API 연결 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2075688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20" b="1">
                <a:solidFill>
                  <a:srgbClr val="667064"/>
                </a:solidFill>
                <a:latin typeface="Arial"/>
              </a:rPr>
              <a:t>YOUR MOKPO, READY TO GO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2350008"/>
            <a:ext cx="29260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50" b="1">
                <a:solidFill>
                  <a:srgbClr val="17304A"/>
                </a:solidFill>
                <a:latin typeface="Arial"/>
              </a:rPr>
              <a:t>오늘의 나만의 목포.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2926080"/>
            <a:ext cx="4892040" cy="566928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044952"/>
            <a:ext cx="914400" cy="1280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90" b="1">
                <a:solidFill>
                  <a:srgbClr val="667064"/>
                </a:solidFill>
                <a:latin typeface="Arial"/>
              </a:rPr>
              <a:t>TODAY’S THEME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227832"/>
            <a:ext cx="210312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19" b="1">
                <a:solidFill>
                  <a:srgbClr val="17304A"/>
                </a:solidFill>
                <a:latin typeface="Arial"/>
              </a:rPr>
              <a:t>느린 오후 로컬 여행</a:t>
            </a:r>
          </a:p>
        </p:txBody>
      </p:sp>
      <p:pic>
        <p:nvPicPr>
          <p:cNvPr id="26" name="Picture 25" descr="mongpori-comp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99232"/>
            <a:ext cx="530352" cy="43891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77240" y="3721608"/>
            <a:ext cx="1325880" cy="1371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90" b="1">
                <a:solidFill>
                  <a:srgbClr val="667064"/>
                </a:solidFill>
                <a:latin typeface="Arial"/>
              </a:rPr>
              <a:t>총 소요시간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3904487"/>
            <a:ext cx="137160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60" b="1">
                <a:solidFill>
                  <a:srgbClr val="2B4D72"/>
                </a:solidFill>
                <a:latin typeface="Arial"/>
              </a:rPr>
              <a:t>4시간 10분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04872" y="3721608"/>
            <a:ext cx="1325880" cy="1371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90" b="1">
                <a:solidFill>
                  <a:srgbClr val="667064"/>
                </a:solidFill>
                <a:latin typeface="Arial"/>
              </a:rPr>
              <a:t>1인 예상비용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04872" y="3904487"/>
            <a:ext cx="137160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60" b="1">
                <a:solidFill>
                  <a:srgbClr val="2B4D72"/>
                </a:solidFill>
                <a:latin typeface="Arial"/>
              </a:rPr>
              <a:t>29,500원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32504" y="3721608"/>
            <a:ext cx="1325880" cy="1371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90" b="1">
                <a:solidFill>
                  <a:srgbClr val="667064"/>
                </a:solidFill>
                <a:latin typeface="Arial"/>
              </a:rPr>
              <a:t>이동수단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32504" y="3904487"/>
            <a:ext cx="137160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60" b="1">
                <a:solidFill>
                  <a:srgbClr val="2B4D72"/>
                </a:solidFill>
                <a:latin typeface="Arial"/>
              </a:rPr>
              <a:t>대중교통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240" y="4325112"/>
            <a:ext cx="2240280" cy="1600200"/>
          </a:xfrm>
          <a:prstGeom prst="rect">
            <a:avLst/>
          </a:prstGeom>
          <a:solidFill>
            <a:srgbClr val="EAF2ED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52144" y="4700016"/>
            <a:ext cx="164592" cy="164592"/>
          </a:xfrm>
          <a:prstGeom prst="ellipse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61288" y="4709160"/>
            <a:ext cx="146304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00" b="1">
                <a:solidFill>
                  <a:srgbClr val="FFFDF8"/>
                </a:solidFill>
                <a:latin typeface="Arial"/>
              </a:rPr>
              <a:t>1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234440" y="4782312"/>
            <a:ext cx="640079" cy="411480"/>
          </a:xfrm>
          <a:prstGeom prst="line">
            <a:avLst/>
          </a:prstGeom>
          <a:ln w="25400">
            <a:solidFill>
              <a:srgbClr val="2B4D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1792223" y="5111496"/>
            <a:ext cx="164592" cy="164592"/>
          </a:xfrm>
          <a:prstGeom prst="ellipse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801367" y="5120640"/>
            <a:ext cx="146304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00" b="1">
                <a:solidFill>
                  <a:srgbClr val="FFFDF8"/>
                </a:solidFill>
                <a:latin typeface="Arial"/>
              </a:rPr>
              <a:t>2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874519" y="5193792"/>
            <a:ext cx="731521" cy="365760"/>
          </a:xfrm>
          <a:prstGeom prst="line">
            <a:avLst/>
          </a:prstGeom>
          <a:ln w="25400">
            <a:solidFill>
              <a:srgbClr val="2B4D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2523744" y="5477256"/>
            <a:ext cx="164592" cy="164592"/>
          </a:xfrm>
          <a:prstGeom prst="ellipse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32888" y="5486400"/>
            <a:ext cx="146304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00" b="1">
                <a:solidFill>
                  <a:srgbClr val="FFFDF8"/>
                </a:solidFill>
                <a:latin typeface="Arial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641848"/>
            <a:ext cx="1828800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20" b="0">
                <a:solidFill>
                  <a:srgbClr val="667064"/>
                </a:solidFill>
                <a:latin typeface="Arial"/>
              </a:rPr>
              <a:t>DEMO 개념 동선 · 실제 위치/경로 아님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27832" y="4325112"/>
            <a:ext cx="18288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19" b="1">
                <a:solidFill>
                  <a:srgbClr val="17304A"/>
                </a:solidFill>
                <a:latin typeface="Arial"/>
              </a:rPr>
              <a:t>나의 하루 타임라인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27832" y="4690872"/>
            <a:ext cx="475488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500" b="1">
                <a:solidFill>
                  <a:srgbClr val="2B4D72"/>
                </a:solidFill>
                <a:latin typeface="Arial"/>
              </a:rPr>
              <a:t>12:00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749039" y="4690872"/>
            <a:ext cx="1783080" cy="310896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840480" y="4718304"/>
            <a:ext cx="13258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560" b="1">
                <a:solidFill>
                  <a:srgbClr val="17304A"/>
                </a:solidFill>
                <a:latin typeface="Arial"/>
              </a:rPr>
              <a:t>항구의 식탁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27832" y="5129783"/>
            <a:ext cx="475488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500" b="1">
                <a:solidFill>
                  <a:srgbClr val="2B4D72"/>
                </a:solidFill>
                <a:latin typeface="Arial"/>
              </a:rPr>
              <a:t>13:12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749039" y="5129783"/>
            <a:ext cx="1783080" cy="310896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840480" y="5157216"/>
            <a:ext cx="13258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560" b="1">
                <a:solidFill>
                  <a:srgbClr val="17304A"/>
                </a:solidFill>
                <a:latin typeface="Arial"/>
              </a:rPr>
              <a:t>골목의 온도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27832" y="5568696"/>
            <a:ext cx="475488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500" b="1">
                <a:solidFill>
                  <a:srgbClr val="2B4D72"/>
                </a:solidFill>
                <a:latin typeface="Arial"/>
              </a:rPr>
              <a:t>14:30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749039" y="5568696"/>
            <a:ext cx="1783080" cy="310896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40480" y="5596128"/>
            <a:ext cx="13258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560" b="1">
                <a:solidFill>
                  <a:srgbClr val="17304A"/>
                </a:solidFill>
                <a:latin typeface="Arial"/>
              </a:rPr>
              <a:t>근대역사거리 산책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77240" y="6217920"/>
            <a:ext cx="1051560" cy="292608"/>
          </a:xfrm>
          <a:prstGeom prst="roundRect">
            <a:avLst/>
          </a:prstGeom>
          <a:solidFill>
            <a:srgbClr val="E9E1CE"/>
          </a:solidFill>
          <a:ln>
            <a:solidFill>
              <a:srgbClr val="E9E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2104" y="6217920"/>
            <a:ext cx="941831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" b="1">
                <a:solidFill>
                  <a:srgbClr val="2B4D72"/>
                </a:solidFill>
                <a:latin typeface="Arial"/>
              </a:rPr>
              <a:t>♡ 코스 저장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947672" y="6217920"/>
            <a:ext cx="868680" cy="292608"/>
          </a:xfrm>
          <a:prstGeom prst="roundRect">
            <a:avLst/>
          </a:prstGeom>
          <a:solidFill>
            <a:srgbClr val="FFFDF8"/>
          </a:solidFill>
          <a:ln>
            <a:solidFill>
              <a:srgbClr val="FFF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002536" y="6217920"/>
            <a:ext cx="758952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" b="1">
                <a:solidFill>
                  <a:srgbClr val="2B4D72"/>
                </a:solidFill>
                <a:latin typeface="Arial"/>
              </a:rPr>
              <a:t>링크 공유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199632" y="1234440"/>
            <a:ext cx="3200400" cy="5074920"/>
          </a:xfrm>
          <a:prstGeom prst="roundRect">
            <a:avLst/>
          </a:prstGeom>
          <a:solidFill>
            <a:srgbClr val="F7F3EA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46520" y="1481328"/>
            <a:ext cx="10972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2B4D72"/>
                </a:solidFill>
                <a:latin typeface="Arial"/>
              </a:rPr>
              <a:t>화면 설명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428232" y="1874519"/>
            <a:ext cx="2697480" cy="694944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6537960" y="1984248"/>
            <a:ext cx="329184" cy="329184"/>
          </a:xfrm>
          <a:prstGeom prst="round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92824" y="1984248"/>
            <a:ext cx="219456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DF8"/>
                </a:solidFill>
                <a:latin typeface="Arial"/>
              </a:rPr>
              <a:t>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958584" y="1947672"/>
            <a:ext cx="2057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30" b="0">
                <a:solidFill>
                  <a:srgbClr val="17304A"/>
                </a:solidFill>
                <a:latin typeface="Arial"/>
              </a:rPr>
              <a:t>TODAY’S THEME과 총 소요시간·1인 예상비용·이동수단을 상단에 표시한다.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28232" y="2679191"/>
            <a:ext cx="2697480" cy="694944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6537960" y="2788920"/>
            <a:ext cx="329184" cy="329184"/>
          </a:xfrm>
          <a:prstGeom prst="round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592824" y="2788920"/>
            <a:ext cx="219456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DF8"/>
                </a:solidFill>
                <a:latin typeface="Arial"/>
              </a:rPr>
              <a:t>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958584" y="2752344"/>
            <a:ext cx="2057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30" b="0">
                <a:solidFill>
                  <a:srgbClr val="17304A"/>
                </a:solidFill>
                <a:latin typeface="Arial"/>
              </a:rPr>
              <a:t>개념 지도와 ‘나의 하루 타임라인’을 함께 제공한다.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428232" y="3483863"/>
            <a:ext cx="2697480" cy="694944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6537960" y="3593591"/>
            <a:ext cx="329184" cy="329184"/>
          </a:xfrm>
          <a:prstGeom prst="round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592824" y="3593591"/>
            <a:ext cx="219456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DF8"/>
                </a:solidFill>
                <a:latin typeface="Arial"/>
              </a:rPr>
              <a:t>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958584" y="3557015"/>
            <a:ext cx="2057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30" b="0">
                <a:solidFill>
                  <a:srgbClr val="17304A"/>
                </a:solidFill>
                <a:latin typeface="Arial"/>
              </a:rPr>
              <a:t>장소별 ‘이 장소만 바꾸기’와 전체 코스 부분 변경을 지원한다.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428232" y="4288536"/>
            <a:ext cx="2697480" cy="694944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6537960" y="4398264"/>
            <a:ext cx="329184" cy="329184"/>
          </a:xfrm>
          <a:prstGeom prst="round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592824" y="4398264"/>
            <a:ext cx="219456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DF8"/>
                </a:solidFill>
                <a:latin typeface="Arial"/>
              </a:rPr>
              <a:t>4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958584" y="4361688"/>
            <a:ext cx="2057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30" b="0">
                <a:solidFill>
                  <a:srgbClr val="17304A"/>
                </a:solidFill>
                <a:latin typeface="Arial"/>
              </a:rPr>
              <a:t>코스 저장·링크 공유·카카오톡 공유 안내 및 ‘오늘의 여행 시작하기’로 후속 행동을 연결한다.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132320" y="6510528"/>
            <a:ext cx="22860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750" b="0">
                <a:solidFill>
                  <a:srgbClr val="667064"/>
                </a:solidFill>
                <a:latin typeface="Arial"/>
              </a:rPr>
              <a:t>NOVA · 화면설계서 ·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411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F6B5E"/>
                </a:solidFill>
                <a:latin typeface="Arial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201168"/>
            <a:ext cx="4114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100" b="1">
                <a:solidFill>
                  <a:srgbClr val="17304A"/>
                </a:solidFill>
                <a:latin typeface="Arial"/>
              </a:rPr>
              <a:t>목포 카테고리 탐색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246888"/>
            <a:ext cx="356616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2B4D72"/>
                </a:solidFill>
                <a:latin typeface="Arial"/>
              </a:rPr>
              <a:t>EXPLORE_01  ·  UC-02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80467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667064"/>
                </a:solidFill>
                <a:latin typeface="Arial"/>
              </a:rPr>
              <a:t>AI 추천을 받기 전에도 사용자가 목포의 장소를 카테고리별로 직접 탐색할 수 있는 화면입니다.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33271"/>
            <a:ext cx="8915400" cy="13716"/>
          </a:xfrm>
          <a:prstGeom prst="rect">
            <a:avLst/>
          </a:prstGeom>
          <a:solidFill>
            <a:srgbClr val="D8C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5486400" cy="5074920"/>
          </a:xfrm>
          <a:prstGeom prst="roundRect">
            <a:avLst/>
          </a:prstGeom>
          <a:solidFill>
            <a:srgbClr val="F2E9D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307592"/>
            <a:ext cx="13258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17304A"/>
                </a:solidFill>
                <a:latin typeface="Arial"/>
              </a:rPr>
              <a:t>목포 뭐 하지?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508760"/>
            <a:ext cx="822960" cy="91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50" b="1">
                <a:solidFill>
                  <a:srgbClr val="667064"/>
                </a:solidFill>
                <a:latin typeface="Arial"/>
              </a:rPr>
              <a:t>TEAM NOVA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371600"/>
            <a:ext cx="475488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0">
                <a:solidFill>
                  <a:srgbClr val="667064"/>
                </a:solidFill>
                <a:latin typeface="Arial"/>
              </a:rPr>
              <a:t>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42032" y="1371600"/>
            <a:ext cx="6400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0">
                <a:solidFill>
                  <a:srgbClr val="667064"/>
                </a:solidFill>
                <a:latin typeface="Arial"/>
              </a:rPr>
              <a:t>여행 만들기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6976" y="1371600"/>
            <a:ext cx="6400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1">
                <a:solidFill>
                  <a:srgbClr val="FF6B5E"/>
                </a:solidFill>
                <a:latin typeface="Arial"/>
              </a:rPr>
              <a:t>목포 탐색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1371600"/>
            <a:ext cx="475488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0">
                <a:solidFill>
                  <a:srgbClr val="667064"/>
                </a:solidFill>
                <a:latin typeface="Arial"/>
              </a:rPr>
              <a:t>여행 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272" y="1371600"/>
            <a:ext cx="475488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0">
                <a:solidFill>
                  <a:srgbClr val="667064"/>
                </a:solidFill>
                <a:latin typeface="Arial"/>
              </a:rPr>
              <a:t>기록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2624" y="1371600"/>
            <a:ext cx="475488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0">
                <a:solidFill>
                  <a:srgbClr val="667064"/>
                </a:solidFill>
                <a:latin typeface="Arial"/>
              </a:rPr>
              <a:t>라운지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22976" y="1371600"/>
            <a:ext cx="475488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0">
                <a:solidFill>
                  <a:srgbClr val="667064"/>
                </a:solidFill>
                <a:latin typeface="Arial"/>
              </a:rPr>
              <a:t>나의 목포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1709928"/>
            <a:ext cx="5486400" cy="201168"/>
          </a:xfrm>
          <a:prstGeom prst="rect">
            <a:avLst/>
          </a:prstGeom>
          <a:solidFill>
            <a:srgbClr val="F7F3EA"/>
          </a:solidFill>
          <a:ln>
            <a:solidFill>
              <a:srgbClr val="F7F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67512" y="1737360"/>
            <a:ext cx="566928" cy="128016"/>
          </a:xfrm>
          <a:prstGeom prst="roundRect">
            <a:avLst/>
          </a:prstGeom>
          <a:solidFill>
            <a:srgbClr val="E9E1CE"/>
          </a:solidFill>
          <a:ln>
            <a:solidFill>
              <a:srgbClr val="E9E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" y="1737360"/>
            <a:ext cx="457200" cy="1280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09" b="1">
                <a:solidFill>
                  <a:srgbClr val="2B4D72"/>
                </a:solidFill>
                <a:latin typeface="Arial"/>
              </a:rPr>
              <a:t>PROTOTYPE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1719072"/>
            <a:ext cx="169164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50" b="0">
                <a:solidFill>
                  <a:srgbClr val="667064"/>
                </a:solidFill>
                <a:latin typeface="Arial"/>
              </a:rPr>
              <a:t>실제 AI·관광·지도 API 연결 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2075688"/>
            <a:ext cx="182880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20" b="1">
                <a:solidFill>
                  <a:srgbClr val="667064"/>
                </a:solidFill>
                <a:latin typeface="Arial"/>
              </a:rPr>
              <a:t>DISCOVER BY CATEGORY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2350008"/>
            <a:ext cx="283464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7304A"/>
                </a:solidFill>
                <a:latin typeface="Arial"/>
              </a:rPr>
              <a:t>목포를 카테고리로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2660904"/>
            <a:ext cx="228600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7304A"/>
                </a:solidFill>
                <a:latin typeface="Arial"/>
              </a:rPr>
              <a:t>둘러보세요.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3081528"/>
            <a:ext cx="484632" cy="228600"/>
          </a:xfrm>
          <a:prstGeom prst="round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" y="3081528"/>
            <a:ext cx="374904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70" b="1">
                <a:solidFill>
                  <a:srgbClr val="FFFDF8"/>
                </a:solidFill>
                <a:latin typeface="Arial"/>
              </a:rPr>
              <a:t>전체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25880" y="3081528"/>
            <a:ext cx="484632" cy="228600"/>
          </a:xfrm>
          <a:prstGeom prst="roundRect">
            <a:avLst/>
          </a:prstGeom>
          <a:solidFill>
            <a:srgbClr val="E9E1CE"/>
          </a:solidFill>
          <a:ln>
            <a:solidFill>
              <a:srgbClr val="E9E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80744" y="3081528"/>
            <a:ext cx="374904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70" b="1">
                <a:solidFill>
                  <a:srgbClr val="17304A"/>
                </a:solidFill>
                <a:latin typeface="Arial"/>
              </a:rPr>
              <a:t>식당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874520" y="3081528"/>
            <a:ext cx="484632" cy="228600"/>
          </a:xfrm>
          <a:prstGeom prst="roundRect">
            <a:avLst/>
          </a:prstGeom>
          <a:solidFill>
            <a:srgbClr val="E9E1CE"/>
          </a:solidFill>
          <a:ln>
            <a:solidFill>
              <a:srgbClr val="E9E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29384" y="3081528"/>
            <a:ext cx="374904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70" b="1">
                <a:solidFill>
                  <a:srgbClr val="17304A"/>
                </a:solidFill>
                <a:latin typeface="Arial"/>
              </a:rPr>
              <a:t>카페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423160" y="3081528"/>
            <a:ext cx="484632" cy="228600"/>
          </a:xfrm>
          <a:prstGeom prst="roundRect">
            <a:avLst/>
          </a:prstGeom>
          <a:solidFill>
            <a:srgbClr val="E9E1CE"/>
          </a:solidFill>
          <a:ln>
            <a:solidFill>
              <a:srgbClr val="E9E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78024" y="3081528"/>
            <a:ext cx="374904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70" b="1">
                <a:solidFill>
                  <a:srgbClr val="17304A"/>
                </a:solidFill>
                <a:latin typeface="Arial"/>
              </a:rPr>
              <a:t>관광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971800" y="3081528"/>
            <a:ext cx="484632" cy="228600"/>
          </a:xfrm>
          <a:prstGeom prst="roundRect">
            <a:avLst/>
          </a:prstGeom>
          <a:solidFill>
            <a:srgbClr val="E9E1CE"/>
          </a:solidFill>
          <a:ln>
            <a:solidFill>
              <a:srgbClr val="E9E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26664" y="3081528"/>
            <a:ext cx="374904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70" b="1">
                <a:solidFill>
                  <a:srgbClr val="17304A"/>
                </a:solidFill>
                <a:latin typeface="Arial"/>
              </a:rPr>
              <a:t>산책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520440" y="3081528"/>
            <a:ext cx="484632" cy="228600"/>
          </a:xfrm>
          <a:prstGeom prst="roundRect">
            <a:avLst/>
          </a:prstGeom>
          <a:solidFill>
            <a:srgbClr val="E9E1CE"/>
          </a:solidFill>
          <a:ln>
            <a:solidFill>
              <a:srgbClr val="E9E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75304" y="3081528"/>
            <a:ext cx="374904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70" b="1">
                <a:solidFill>
                  <a:srgbClr val="17304A"/>
                </a:solidFill>
                <a:latin typeface="Arial"/>
              </a:rPr>
              <a:t>체험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069080" y="3081528"/>
            <a:ext cx="484632" cy="228600"/>
          </a:xfrm>
          <a:prstGeom prst="roundRect">
            <a:avLst/>
          </a:prstGeom>
          <a:solidFill>
            <a:srgbClr val="E9E1CE"/>
          </a:solidFill>
          <a:ln>
            <a:solidFill>
              <a:srgbClr val="E9E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23944" y="3081528"/>
            <a:ext cx="374904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70" b="1">
                <a:solidFill>
                  <a:srgbClr val="17304A"/>
                </a:solidFill>
                <a:latin typeface="Arial"/>
              </a:rPr>
              <a:t>축제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" y="3502152"/>
            <a:ext cx="2240280" cy="1051560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foo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3575304"/>
            <a:ext cx="731520" cy="841248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691640" y="3648456"/>
            <a:ext cx="11430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80" b="1">
                <a:solidFill>
                  <a:srgbClr val="17304A"/>
                </a:solidFill>
                <a:latin typeface="Arial"/>
              </a:rPr>
              <a:t>항구의 식탁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91640" y="3895344"/>
            <a:ext cx="114300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40" b="0">
                <a:solidFill>
                  <a:srgbClr val="2B4D72"/>
                </a:solidFill>
                <a:latin typeface="Arial"/>
              </a:rPr>
              <a:t>#바다뷰 · #로컬 · #사진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91640" y="4160520"/>
            <a:ext cx="1143000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20" b="0">
                <a:solidFill>
                  <a:srgbClr val="667064"/>
                </a:solidFill>
                <a:latin typeface="Arial"/>
              </a:rPr>
              <a:t>시연용 정보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200400" y="3502152"/>
            <a:ext cx="2240280" cy="1051560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caf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3552" y="3575304"/>
            <a:ext cx="731520" cy="841248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4114800" y="3648456"/>
            <a:ext cx="11430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80" b="1">
                <a:solidFill>
                  <a:srgbClr val="17304A"/>
                </a:solidFill>
                <a:latin typeface="Arial"/>
              </a:rPr>
              <a:t>오후의 바다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4800" y="3895344"/>
            <a:ext cx="114300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40" b="0">
                <a:solidFill>
                  <a:srgbClr val="2B4D72"/>
                </a:solidFill>
                <a:latin typeface="Arial"/>
              </a:rPr>
              <a:t>#바다뷰 · #로컬 · #사진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0" y="4160520"/>
            <a:ext cx="1143000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20" b="0">
                <a:solidFill>
                  <a:srgbClr val="667064"/>
                </a:solidFill>
                <a:latin typeface="Arial"/>
              </a:rPr>
              <a:t>시연용 정보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77240" y="4764024"/>
            <a:ext cx="2240280" cy="1051560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stree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4837176"/>
            <a:ext cx="731520" cy="84124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691640" y="4910328"/>
            <a:ext cx="11430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80" b="1">
                <a:solidFill>
                  <a:srgbClr val="17304A"/>
                </a:solidFill>
                <a:latin typeface="Arial"/>
              </a:rPr>
              <a:t>근대역사관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91640" y="5157216"/>
            <a:ext cx="114300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40" b="0">
                <a:solidFill>
                  <a:srgbClr val="2B4D72"/>
                </a:solidFill>
                <a:latin typeface="Arial"/>
              </a:rPr>
              <a:t>#바다뷰 · #로컬 · #사진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691640" y="5422392"/>
            <a:ext cx="1143000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20" b="0">
                <a:solidFill>
                  <a:srgbClr val="667064"/>
                </a:solidFill>
                <a:latin typeface="Arial"/>
              </a:rPr>
              <a:t>시연용 정보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200400" y="4764024"/>
            <a:ext cx="2240280" cy="1051560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harbor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3552" y="4837176"/>
            <a:ext cx="731520" cy="841248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4114800" y="4910328"/>
            <a:ext cx="11430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80" b="1">
                <a:solidFill>
                  <a:srgbClr val="17304A"/>
                </a:solidFill>
                <a:latin typeface="Arial"/>
              </a:rPr>
              <a:t>목포항구축제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14800" y="5157216"/>
            <a:ext cx="114300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40" b="0">
                <a:solidFill>
                  <a:srgbClr val="2B4D72"/>
                </a:solidFill>
                <a:latin typeface="Arial"/>
              </a:rPr>
              <a:t>#바다뷰 · #로컬 · #사진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0" y="5422392"/>
            <a:ext cx="1143000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20" b="0">
                <a:solidFill>
                  <a:srgbClr val="667064"/>
                </a:solidFill>
                <a:latin typeface="Arial"/>
              </a:rPr>
              <a:t>시연용 정보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657600" y="6217920"/>
            <a:ext cx="1874519" cy="292608"/>
          </a:xfrm>
          <a:prstGeom prst="round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712463" y="6217920"/>
            <a:ext cx="1764791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1">
                <a:solidFill>
                  <a:srgbClr val="FFFDF8"/>
                </a:solidFill>
                <a:latin typeface="Arial"/>
              </a:rPr>
              <a:t>내 취향으로 코스 만들기 →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199632" y="1234440"/>
            <a:ext cx="3200400" cy="5074920"/>
          </a:xfrm>
          <a:prstGeom prst="roundRect">
            <a:avLst/>
          </a:prstGeom>
          <a:solidFill>
            <a:srgbClr val="F7F3EA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46520" y="1481328"/>
            <a:ext cx="10972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2B4D72"/>
                </a:solidFill>
                <a:latin typeface="Arial"/>
              </a:rPr>
              <a:t>화면 설명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28232" y="1874519"/>
            <a:ext cx="2697480" cy="694944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6537960" y="1984248"/>
            <a:ext cx="329184" cy="329184"/>
          </a:xfrm>
          <a:prstGeom prst="round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592824" y="1984248"/>
            <a:ext cx="219456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DF8"/>
                </a:solidFill>
                <a:latin typeface="Arial"/>
              </a:rPr>
              <a:t>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958584" y="1947672"/>
            <a:ext cx="2057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30" b="0">
                <a:solidFill>
                  <a:srgbClr val="17304A"/>
                </a:solidFill>
                <a:latin typeface="Arial"/>
              </a:rPr>
              <a:t>전체·식당·카페·관광·산책·체험·축제로 필터링한다.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428232" y="2679191"/>
            <a:ext cx="2697480" cy="694944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6537960" y="2788920"/>
            <a:ext cx="329184" cy="329184"/>
          </a:xfrm>
          <a:prstGeom prst="round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592824" y="2788920"/>
            <a:ext cx="219456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DF8"/>
                </a:solidFill>
                <a:latin typeface="Arial"/>
              </a:rPr>
              <a:t>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958584" y="2752344"/>
            <a:ext cx="2057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30" b="0">
                <a:solidFill>
                  <a:srgbClr val="17304A"/>
                </a:solidFill>
                <a:latin typeface="Arial"/>
              </a:rPr>
              <a:t>장소 카드에 이미지·태그·간단 설명을 제공한다.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428232" y="3483863"/>
            <a:ext cx="2697480" cy="694944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6537960" y="3593591"/>
            <a:ext cx="329184" cy="329184"/>
          </a:xfrm>
          <a:prstGeom prst="round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592824" y="3593591"/>
            <a:ext cx="219456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DF8"/>
                </a:solidFill>
                <a:latin typeface="Arial"/>
              </a:rPr>
              <a:t>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958584" y="3557015"/>
            <a:ext cx="2057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30" b="0">
                <a:solidFill>
                  <a:srgbClr val="17304A"/>
                </a:solidFill>
                <a:latin typeface="Arial"/>
              </a:rPr>
              <a:t>‘내 취향으로 코스 만들기’로 여행 만들기 흐름에 진입한다.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428232" y="4288536"/>
            <a:ext cx="2697480" cy="694944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6537960" y="4398264"/>
            <a:ext cx="329184" cy="329184"/>
          </a:xfrm>
          <a:prstGeom prst="round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592824" y="4398264"/>
            <a:ext cx="219456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DF8"/>
                </a:solidFill>
                <a:latin typeface="Arial"/>
              </a:rPr>
              <a:t>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958584" y="4361688"/>
            <a:ext cx="2057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30" b="0">
                <a:solidFill>
                  <a:srgbClr val="17304A"/>
                </a:solidFill>
                <a:latin typeface="Arial"/>
              </a:rPr>
              <a:t>실제 Prototype의 ‘목포 탐색’ 메뉴를 별도 화면으로 반영한다.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132320" y="6510528"/>
            <a:ext cx="22860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750" b="0">
                <a:solidFill>
                  <a:srgbClr val="667064"/>
                </a:solidFill>
                <a:latin typeface="Arial"/>
              </a:rPr>
              <a:t>NOVA · 화면설계서 ·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411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F6B5E"/>
                </a:solidFill>
                <a:latin typeface="Arial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201168"/>
            <a:ext cx="4114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100" b="1">
                <a:solidFill>
                  <a:srgbClr val="17304A"/>
                </a:solidFill>
                <a:latin typeface="Arial"/>
              </a:rPr>
              <a:t>여행 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246888"/>
            <a:ext cx="356616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2B4D72"/>
                </a:solidFill>
                <a:latin typeface="Arial"/>
              </a:rPr>
              <a:t>TRAVEL_01  ·  UC-04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80467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667064"/>
                </a:solidFill>
                <a:latin typeface="Arial"/>
              </a:rPr>
              <a:t>완성된 코스를 실제 여행처럼 진행하면서 사진·평가·후기 태그를 남기는 여행 중 화면입니다.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33271"/>
            <a:ext cx="8915400" cy="13716"/>
          </a:xfrm>
          <a:prstGeom prst="rect">
            <a:avLst/>
          </a:prstGeom>
          <a:solidFill>
            <a:srgbClr val="D8C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5486400" cy="5074920"/>
          </a:xfrm>
          <a:prstGeom prst="roundRect">
            <a:avLst/>
          </a:prstGeom>
          <a:solidFill>
            <a:srgbClr val="F2E9D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307592"/>
            <a:ext cx="13258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17304A"/>
                </a:solidFill>
                <a:latin typeface="Arial"/>
              </a:rPr>
              <a:t>목포 뭐 하지?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508760"/>
            <a:ext cx="822960" cy="91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50" b="1">
                <a:solidFill>
                  <a:srgbClr val="667064"/>
                </a:solidFill>
                <a:latin typeface="Arial"/>
              </a:rPr>
              <a:t>TEAM NOVA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371600"/>
            <a:ext cx="475488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0">
                <a:solidFill>
                  <a:srgbClr val="667064"/>
                </a:solidFill>
                <a:latin typeface="Arial"/>
              </a:rPr>
              <a:t>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42032" y="1371600"/>
            <a:ext cx="6400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0">
                <a:solidFill>
                  <a:srgbClr val="667064"/>
                </a:solidFill>
                <a:latin typeface="Arial"/>
              </a:rPr>
              <a:t>여행 만들기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6976" y="1371600"/>
            <a:ext cx="6400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0">
                <a:solidFill>
                  <a:srgbClr val="667064"/>
                </a:solidFill>
                <a:latin typeface="Arial"/>
              </a:rPr>
              <a:t>목포 탐색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1371600"/>
            <a:ext cx="475488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1">
                <a:solidFill>
                  <a:srgbClr val="FF6B5E"/>
                </a:solidFill>
                <a:latin typeface="Arial"/>
              </a:rPr>
              <a:t>여행 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272" y="1371600"/>
            <a:ext cx="475488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0">
                <a:solidFill>
                  <a:srgbClr val="667064"/>
                </a:solidFill>
                <a:latin typeface="Arial"/>
              </a:rPr>
              <a:t>기록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2624" y="1371600"/>
            <a:ext cx="475488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0">
                <a:solidFill>
                  <a:srgbClr val="667064"/>
                </a:solidFill>
                <a:latin typeface="Arial"/>
              </a:rPr>
              <a:t>라운지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22976" y="1371600"/>
            <a:ext cx="475488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0">
                <a:solidFill>
                  <a:srgbClr val="667064"/>
                </a:solidFill>
                <a:latin typeface="Arial"/>
              </a:rPr>
              <a:t>나의 목포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1709928"/>
            <a:ext cx="5486400" cy="201168"/>
          </a:xfrm>
          <a:prstGeom prst="rect">
            <a:avLst/>
          </a:prstGeom>
          <a:solidFill>
            <a:srgbClr val="F7F3EA"/>
          </a:solidFill>
          <a:ln>
            <a:solidFill>
              <a:srgbClr val="F7F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67512" y="1737360"/>
            <a:ext cx="566928" cy="128016"/>
          </a:xfrm>
          <a:prstGeom prst="roundRect">
            <a:avLst/>
          </a:prstGeom>
          <a:solidFill>
            <a:srgbClr val="E9E1CE"/>
          </a:solidFill>
          <a:ln>
            <a:solidFill>
              <a:srgbClr val="E9E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" y="1737360"/>
            <a:ext cx="457200" cy="1280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09" b="1">
                <a:solidFill>
                  <a:srgbClr val="2B4D72"/>
                </a:solidFill>
                <a:latin typeface="Arial"/>
              </a:rPr>
              <a:t>PROTOTYPE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1719072"/>
            <a:ext cx="169164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50" b="0">
                <a:solidFill>
                  <a:srgbClr val="667064"/>
                </a:solidFill>
                <a:latin typeface="Arial"/>
              </a:rPr>
              <a:t>실제 AI·관광·지도 API 연결 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2075688"/>
            <a:ext cx="210312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20" b="1">
                <a:solidFill>
                  <a:srgbClr val="667064"/>
                </a:solidFill>
                <a:latin typeface="Arial"/>
              </a:rPr>
              <a:t>TRAVEL WITH MONGPORI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2350008"/>
            <a:ext cx="320040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7304A"/>
                </a:solidFill>
                <a:latin typeface="Arial"/>
              </a:rPr>
              <a:t>여행 중, 지금 이 순간.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2724912"/>
            <a:ext cx="24688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580" b="0">
                <a:solidFill>
                  <a:srgbClr val="667064"/>
                </a:solidFill>
                <a:latin typeface="Arial"/>
              </a:rPr>
              <a:t>1 / 3번째 장소 · DEMO 여행 모드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3063240"/>
            <a:ext cx="2788920" cy="2240280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foo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154680"/>
            <a:ext cx="2606040" cy="86868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14400" y="4178808"/>
            <a:ext cx="640080" cy="1371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500" b="1">
                <a:solidFill>
                  <a:srgbClr val="667064"/>
                </a:solidFill>
                <a:latin typeface="Arial"/>
              </a:rPr>
              <a:t>STOP 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416552"/>
            <a:ext cx="17373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17304A"/>
                </a:solidFill>
                <a:latin typeface="Arial"/>
              </a:rPr>
              <a:t>항구의 식탁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727448"/>
            <a:ext cx="210312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540" b="0">
                <a:solidFill>
                  <a:srgbClr val="667064"/>
                </a:solidFill>
                <a:latin typeface="Arial"/>
              </a:rPr>
              <a:t>오늘의 한 장과 한 줄이면 충분해요.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5001768"/>
            <a:ext cx="1143000" cy="228600"/>
          </a:xfrm>
          <a:prstGeom prst="roundRect">
            <a:avLst/>
          </a:prstGeom>
          <a:solidFill>
            <a:srgbClr val="E9E1CE"/>
          </a:solidFill>
          <a:ln>
            <a:solidFill>
              <a:srgbClr val="E9E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9264" y="5001768"/>
            <a:ext cx="1033271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59" b="1">
                <a:solidFill>
                  <a:srgbClr val="2B4D72"/>
                </a:solidFill>
                <a:latin typeface="Arial"/>
              </a:rPr>
              <a:t>사진 추가 / 바꾸기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40480" y="3063240"/>
            <a:ext cx="1828800" cy="2240280"/>
          </a:xfrm>
          <a:prstGeom prst="roundRect">
            <a:avLst/>
          </a:prstGeom>
          <a:solidFill>
            <a:srgbClr val="F7F3EA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50791" y="3246120"/>
            <a:ext cx="118872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50" b="1">
                <a:solidFill>
                  <a:srgbClr val="17304A"/>
                </a:solidFill>
                <a:latin typeface="Arial"/>
              </a:rPr>
              <a:t>오늘의 항로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50791" y="3657600"/>
            <a:ext cx="13258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570" b="1">
                <a:solidFill>
                  <a:srgbClr val="2B4D72"/>
                </a:solidFill>
                <a:latin typeface="Arial"/>
              </a:rPr>
              <a:t>① 항구의 식탁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50791" y="3995928"/>
            <a:ext cx="13258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570" b="0">
                <a:solidFill>
                  <a:srgbClr val="17304A"/>
                </a:solidFill>
                <a:latin typeface="Arial"/>
              </a:rPr>
              <a:t>② 골목의 온도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50791" y="4334256"/>
            <a:ext cx="13258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570" b="0">
                <a:solidFill>
                  <a:srgbClr val="17304A"/>
                </a:solidFill>
                <a:latin typeface="Arial"/>
              </a:rPr>
              <a:t>③ 근대역사거리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050791" y="4892040"/>
            <a:ext cx="1353312" cy="256032"/>
          </a:xfrm>
          <a:prstGeom prst="round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05655" y="4892040"/>
            <a:ext cx="1243584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50" b="1">
                <a:solidFill>
                  <a:srgbClr val="FFFDF8"/>
                </a:solidFill>
                <a:latin typeface="Arial"/>
              </a:rPr>
              <a:t>기록하고 다음 장소로 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99632" y="1234440"/>
            <a:ext cx="3200400" cy="5074920"/>
          </a:xfrm>
          <a:prstGeom prst="roundRect">
            <a:avLst/>
          </a:prstGeom>
          <a:solidFill>
            <a:srgbClr val="F7F3EA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1481328"/>
            <a:ext cx="10972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2B4D72"/>
                </a:solidFill>
                <a:latin typeface="Arial"/>
              </a:rPr>
              <a:t>화면 설명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28232" y="1874519"/>
            <a:ext cx="2697480" cy="694944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537960" y="1984248"/>
            <a:ext cx="329184" cy="329184"/>
          </a:xfrm>
          <a:prstGeom prst="round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92824" y="1984248"/>
            <a:ext cx="219456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DF8"/>
                </a:solidFill>
                <a:latin typeface="Arial"/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58584" y="1947672"/>
            <a:ext cx="2057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30" b="0">
                <a:solidFill>
                  <a:srgbClr val="17304A"/>
                </a:solidFill>
                <a:latin typeface="Arial"/>
              </a:rPr>
              <a:t>현재 몇 번째 장소인지와 장소명을 표시한다.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28232" y="2679191"/>
            <a:ext cx="2697480" cy="694944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537960" y="2788920"/>
            <a:ext cx="329184" cy="329184"/>
          </a:xfrm>
          <a:prstGeom prst="round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92824" y="2788920"/>
            <a:ext cx="219456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DF8"/>
                </a:solidFill>
                <a:latin typeface="Arial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58584" y="2752344"/>
            <a:ext cx="2057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30" b="0">
                <a:solidFill>
                  <a:srgbClr val="17304A"/>
                </a:solidFill>
                <a:latin typeface="Arial"/>
              </a:rPr>
              <a:t>사진 추가/변경, 좋았어요·보통이에요·아쉬웠어요, 재방문 의향을 기록한다.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28232" y="3483863"/>
            <a:ext cx="2697480" cy="694944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537960" y="3593591"/>
            <a:ext cx="329184" cy="329184"/>
          </a:xfrm>
          <a:prstGeom prst="round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92824" y="3593591"/>
            <a:ext cx="219456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DF8"/>
                </a:solidFill>
                <a:latin typeface="Arial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58584" y="3557015"/>
            <a:ext cx="2057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30" b="0">
                <a:solidFill>
                  <a:srgbClr val="17304A"/>
                </a:solidFill>
                <a:latin typeface="Arial"/>
              </a:rPr>
              <a:t>후기 태그와 짧은 감상을 저장한다.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28232" y="4288536"/>
            <a:ext cx="2697480" cy="694944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6537960" y="4398264"/>
            <a:ext cx="329184" cy="329184"/>
          </a:xfrm>
          <a:prstGeom prst="round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92824" y="4398264"/>
            <a:ext cx="219456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DF8"/>
                </a:solidFill>
                <a:latin typeface="Arial"/>
              </a:rPr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58584" y="4361688"/>
            <a:ext cx="2057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30" b="0">
                <a:solidFill>
                  <a:srgbClr val="17304A"/>
                </a:solidFill>
                <a:latin typeface="Arial"/>
              </a:rPr>
              <a:t>오른쪽 ‘오늘의 항로’에서 장소를 이동하고 여행 완료 후 여행일기를 생성한다.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32320" y="6510528"/>
            <a:ext cx="22860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750" b="0">
                <a:solidFill>
                  <a:srgbClr val="667064"/>
                </a:solidFill>
                <a:latin typeface="Arial"/>
              </a:rPr>
              <a:t>NOVA · 화면설계서 ·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411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F6B5E"/>
                </a:solidFill>
                <a:latin typeface="Arial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201168"/>
            <a:ext cx="4114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100" b="1">
                <a:solidFill>
                  <a:srgbClr val="17304A"/>
                </a:solidFill>
                <a:latin typeface="Arial"/>
              </a:rPr>
              <a:t>여행자 기록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246888"/>
            <a:ext cx="356616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2B4D72"/>
                </a:solidFill>
                <a:latin typeface="Arial"/>
              </a:rPr>
              <a:t>BLOG_01  ·  UC-04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80467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667064"/>
                </a:solidFill>
                <a:latin typeface="Arial"/>
              </a:rPr>
              <a:t>여행이 끝난 뒤 작성한 항해일기를 공개·검색 가능한 Traveler UGC로 보여주는 Mini Blog 화면입니다.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33271"/>
            <a:ext cx="8915400" cy="13716"/>
          </a:xfrm>
          <a:prstGeom prst="rect">
            <a:avLst/>
          </a:prstGeom>
          <a:solidFill>
            <a:srgbClr val="D8C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5486400" cy="5074920"/>
          </a:xfrm>
          <a:prstGeom prst="roundRect">
            <a:avLst/>
          </a:prstGeom>
          <a:solidFill>
            <a:srgbClr val="F2E9D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307592"/>
            <a:ext cx="13258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17304A"/>
                </a:solidFill>
                <a:latin typeface="Arial"/>
              </a:rPr>
              <a:t>목포 뭐 하지?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508760"/>
            <a:ext cx="822960" cy="91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50" b="1">
                <a:solidFill>
                  <a:srgbClr val="667064"/>
                </a:solidFill>
                <a:latin typeface="Arial"/>
              </a:rPr>
              <a:t>TEAM NOVA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371600"/>
            <a:ext cx="475488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0">
                <a:solidFill>
                  <a:srgbClr val="667064"/>
                </a:solidFill>
                <a:latin typeface="Arial"/>
              </a:rPr>
              <a:t>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42032" y="1371600"/>
            <a:ext cx="6400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0">
                <a:solidFill>
                  <a:srgbClr val="667064"/>
                </a:solidFill>
                <a:latin typeface="Arial"/>
              </a:rPr>
              <a:t>여행 만들기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6976" y="1371600"/>
            <a:ext cx="6400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0">
                <a:solidFill>
                  <a:srgbClr val="667064"/>
                </a:solidFill>
                <a:latin typeface="Arial"/>
              </a:rPr>
              <a:t>목포 탐색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1371600"/>
            <a:ext cx="475488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0">
                <a:solidFill>
                  <a:srgbClr val="667064"/>
                </a:solidFill>
                <a:latin typeface="Arial"/>
              </a:rPr>
              <a:t>여행 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272" y="1371600"/>
            <a:ext cx="475488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1">
                <a:solidFill>
                  <a:srgbClr val="FF6B5E"/>
                </a:solidFill>
                <a:latin typeface="Arial"/>
              </a:rPr>
              <a:t>기록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2624" y="1371600"/>
            <a:ext cx="475488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0">
                <a:solidFill>
                  <a:srgbClr val="667064"/>
                </a:solidFill>
                <a:latin typeface="Arial"/>
              </a:rPr>
              <a:t>라운지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22976" y="1371600"/>
            <a:ext cx="475488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0">
                <a:solidFill>
                  <a:srgbClr val="667064"/>
                </a:solidFill>
                <a:latin typeface="Arial"/>
              </a:rPr>
              <a:t>나의 목포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1709928"/>
            <a:ext cx="5486400" cy="201168"/>
          </a:xfrm>
          <a:prstGeom prst="rect">
            <a:avLst/>
          </a:prstGeom>
          <a:solidFill>
            <a:srgbClr val="F7F3EA"/>
          </a:solidFill>
          <a:ln>
            <a:solidFill>
              <a:srgbClr val="F7F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67512" y="1737360"/>
            <a:ext cx="566928" cy="128016"/>
          </a:xfrm>
          <a:prstGeom prst="roundRect">
            <a:avLst/>
          </a:prstGeom>
          <a:solidFill>
            <a:srgbClr val="E9E1CE"/>
          </a:solidFill>
          <a:ln>
            <a:solidFill>
              <a:srgbClr val="E9E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" y="1737360"/>
            <a:ext cx="457200" cy="1280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09" b="1">
                <a:solidFill>
                  <a:srgbClr val="2B4D72"/>
                </a:solidFill>
                <a:latin typeface="Arial"/>
              </a:rPr>
              <a:t>PROTOTYPE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1719072"/>
            <a:ext cx="169164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50" b="0">
                <a:solidFill>
                  <a:srgbClr val="667064"/>
                </a:solidFill>
                <a:latin typeface="Arial"/>
              </a:rPr>
              <a:t>실제 AI·관광·지도 API 연결 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2075688"/>
            <a:ext cx="228600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20" b="1">
                <a:solidFill>
                  <a:srgbClr val="667064"/>
                </a:solidFill>
                <a:latin typeface="Arial"/>
              </a:rPr>
              <a:t>MINI BLOG / TRAVELER UGC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2350008"/>
            <a:ext cx="29260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7304A"/>
                </a:solidFill>
                <a:latin typeface="Arial"/>
              </a:rPr>
              <a:t>목포 여행자 기록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2724912"/>
            <a:ext cx="29260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00" b="0">
                <a:solidFill>
                  <a:srgbClr val="667064"/>
                </a:solidFill>
                <a:latin typeface="Arial"/>
              </a:rPr>
              <a:t>한 번의 여행을 담은 항해일지.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3172968"/>
            <a:ext cx="1444752" cy="2240280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stree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3246120"/>
            <a:ext cx="1298448" cy="73152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68680" y="4096512"/>
            <a:ext cx="1143000" cy="1188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09" b="1">
                <a:solidFill>
                  <a:srgbClr val="667064"/>
                </a:solidFill>
                <a:latin typeface="Arial"/>
              </a:rPr>
              <a:t>SAMPLE JOURNAL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306824"/>
            <a:ext cx="1170432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80" b="1">
                <a:solidFill>
                  <a:srgbClr val="17304A"/>
                </a:solidFill>
                <a:latin typeface="Arial"/>
              </a:rPr>
              <a:t>느린 오후의 목포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4764024"/>
            <a:ext cx="1143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40" b="0">
                <a:solidFill>
                  <a:srgbClr val="2B4D72"/>
                </a:solidFill>
                <a:latin typeface="Arial"/>
              </a:rPr>
              <a:t>#조용함 #미식 #골목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120640"/>
            <a:ext cx="91440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80" b="1">
                <a:solidFill>
                  <a:srgbClr val="FF6B5E"/>
                </a:solidFill>
                <a:latin typeface="Arial"/>
              </a:rPr>
              <a:t>♡ 공감 12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395728" y="3172968"/>
            <a:ext cx="1444752" cy="2240280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foo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0" y="3246120"/>
            <a:ext cx="1298448" cy="73152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2487168" y="4096512"/>
            <a:ext cx="1143000" cy="1188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09" b="1">
                <a:solidFill>
                  <a:srgbClr val="667064"/>
                </a:solidFill>
                <a:latin typeface="Arial"/>
              </a:rPr>
              <a:t>SAMPLE JOURNAL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87168" y="4306824"/>
            <a:ext cx="1170432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80" b="1">
                <a:solidFill>
                  <a:srgbClr val="17304A"/>
                </a:solidFill>
                <a:latin typeface="Arial"/>
              </a:rPr>
              <a:t>친구와 먹은 한 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87168" y="4764024"/>
            <a:ext cx="1143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40" b="0">
                <a:solidFill>
                  <a:srgbClr val="2B4D72"/>
                </a:solidFill>
                <a:latin typeface="Arial"/>
              </a:rPr>
              <a:t>#조용함 #미식 #골목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87168" y="5120640"/>
            <a:ext cx="91440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80" b="1">
                <a:solidFill>
                  <a:srgbClr val="FF6B5E"/>
                </a:solidFill>
                <a:latin typeface="Arial"/>
              </a:rPr>
              <a:t>♡ 공감 12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014216" y="3172968"/>
            <a:ext cx="1444752" cy="2240280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harbo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7368" y="3246120"/>
            <a:ext cx="1298448" cy="73152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105656" y="4096512"/>
            <a:ext cx="1143000" cy="1188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09" b="1">
                <a:solidFill>
                  <a:srgbClr val="667064"/>
                </a:solidFill>
                <a:latin typeface="Arial"/>
              </a:rPr>
              <a:t>SAMPLE JOURNAL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05656" y="4306824"/>
            <a:ext cx="1170432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80" b="1">
                <a:solidFill>
                  <a:srgbClr val="17304A"/>
                </a:solidFill>
                <a:latin typeface="Arial"/>
              </a:rPr>
              <a:t>항구에서 만난 노을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05656" y="4764024"/>
            <a:ext cx="1143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40" b="0">
                <a:solidFill>
                  <a:srgbClr val="2B4D72"/>
                </a:solidFill>
                <a:latin typeface="Arial"/>
              </a:rPr>
              <a:t>#조용함 #미식 #골목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05656" y="5120640"/>
            <a:ext cx="91440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80" b="1">
                <a:solidFill>
                  <a:srgbClr val="FF6B5E"/>
                </a:solidFill>
                <a:latin typeface="Arial"/>
              </a:rPr>
              <a:t>♡ 공감 12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77240" y="5733288"/>
            <a:ext cx="4892040" cy="411480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41832" y="5833872"/>
            <a:ext cx="256032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540" b="1">
                <a:solidFill>
                  <a:srgbClr val="2B4D72"/>
                </a:solidFill>
                <a:latin typeface="Arial"/>
              </a:rPr>
              <a:t>전체  ·  혼자  ·  친구  ·  내 공개 기록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959352" y="5824727"/>
            <a:ext cx="1325880" cy="228600"/>
          </a:xfrm>
          <a:prstGeom prst="roundRect">
            <a:avLst/>
          </a:prstGeom>
          <a:solidFill>
            <a:srgbClr val="E9E1CE"/>
          </a:solidFill>
          <a:ln>
            <a:solidFill>
              <a:srgbClr val="E9E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014215" y="5824727"/>
            <a:ext cx="1216152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70" b="1">
                <a:solidFill>
                  <a:srgbClr val="2B4D72"/>
                </a:solidFill>
                <a:latin typeface="Arial"/>
              </a:rPr>
              <a:t>비슷하게 여행하기 ↗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99632" y="1234440"/>
            <a:ext cx="3200400" cy="5074920"/>
          </a:xfrm>
          <a:prstGeom prst="roundRect">
            <a:avLst/>
          </a:prstGeom>
          <a:solidFill>
            <a:srgbClr val="F7F3EA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46520" y="1481328"/>
            <a:ext cx="10972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2B4D72"/>
                </a:solidFill>
                <a:latin typeface="Arial"/>
              </a:rPr>
              <a:t>화면 설명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28232" y="1874519"/>
            <a:ext cx="2697480" cy="694944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537960" y="1984248"/>
            <a:ext cx="329184" cy="329184"/>
          </a:xfrm>
          <a:prstGeom prst="round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92824" y="1984248"/>
            <a:ext cx="219456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DF8"/>
                </a:solidFill>
                <a:latin typeface="Arial"/>
              </a:rPr>
              <a:t>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58584" y="1947672"/>
            <a:ext cx="2057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30" b="0">
                <a:solidFill>
                  <a:srgbClr val="17304A"/>
                </a:solidFill>
                <a:latin typeface="Arial"/>
              </a:rPr>
              <a:t>전체·혼자·친구·내 공개 기록으로 필터링한다.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28232" y="2679191"/>
            <a:ext cx="2697480" cy="694944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6537960" y="2788920"/>
            <a:ext cx="329184" cy="329184"/>
          </a:xfrm>
          <a:prstGeom prst="round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92824" y="2788920"/>
            <a:ext cx="219456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DF8"/>
                </a:solidFill>
                <a:latin typeface="Arial"/>
              </a:rPr>
              <a:t>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58584" y="2752344"/>
            <a:ext cx="2057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30" b="0">
                <a:solidFill>
                  <a:srgbClr val="17304A"/>
                </a:solidFill>
                <a:latin typeface="Arial"/>
              </a:rPr>
              <a:t>대표 사진·여행 테마·방문 장소·태그·공감 수를 함께 보여준다.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428232" y="3483863"/>
            <a:ext cx="2697480" cy="694944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6537960" y="3593591"/>
            <a:ext cx="329184" cy="329184"/>
          </a:xfrm>
          <a:prstGeom prst="round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92824" y="3593591"/>
            <a:ext cx="219456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DF8"/>
                </a:solidFill>
                <a:latin typeface="Arial"/>
              </a:rPr>
              <a:t>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58584" y="3557015"/>
            <a:ext cx="2057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30" b="0">
                <a:solidFill>
                  <a:srgbClr val="17304A"/>
                </a:solidFill>
                <a:latin typeface="Arial"/>
              </a:rPr>
              <a:t>‘비슷하게 여행하기’로 다른 여행자의 기록을 다음 여행 조건으로 연결한다.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28232" y="4288536"/>
            <a:ext cx="2697480" cy="694944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6537960" y="4398264"/>
            <a:ext cx="329184" cy="329184"/>
          </a:xfrm>
          <a:prstGeom prst="round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592824" y="4398264"/>
            <a:ext cx="219456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DF8"/>
                </a:solidFill>
                <a:latin typeface="Arial"/>
              </a:rPr>
              <a:t>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58584" y="4361688"/>
            <a:ext cx="2057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30" b="0">
                <a:solidFill>
                  <a:srgbClr val="17304A"/>
                </a:solidFill>
                <a:latin typeface="Arial"/>
              </a:rPr>
              <a:t>공개 동의된 기록만 추천 데이터로 활용되는 구조를 반영한다.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132320" y="6510528"/>
            <a:ext cx="22860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750" b="0">
                <a:solidFill>
                  <a:srgbClr val="667064"/>
                </a:solidFill>
                <a:latin typeface="Arial"/>
              </a:rPr>
              <a:t>NOVA · 화면설계서 ·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411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F6B5E"/>
                </a:solidFill>
                <a:latin typeface="Arial"/>
              </a:rP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201168"/>
            <a:ext cx="4114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100" b="1">
                <a:solidFill>
                  <a:srgbClr val="17304A"/>
                </a:solidFill>
                <a:latin typeface="Arial"/>
              </a:rPr>
              <a:t>나의 목포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246888"/>
            <a:ext cx="356616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2B4D72"/>
                </a:solidFill>
                <a:latin typeface="Arial"/>
              </a:rPr>
              <a:t>MY_01  ·  UC-04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80467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667064"/>
                </a:solidFill>
                <a:latin typeface="Arial"/>
              </a:rPr>
              <a:t>저장 코스, 여행일기, 스탬프·쿠폰, 취향, 좋아한 장소와 비공개 사진을 통합 관리합니다.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33271"/>
            <a:ext cx="8915400" cy="13716"/>
          </a:xfrm>
          <a:prstGeom prst="rect">
            <a:avLst/>
          </a:prstGeom>
          <a:solidFill>
            <a:srgbClr val="D8C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5486400" cy="5074920"/>
          </a:xfrm>
          <a:prstGeom prst="roundRect">
            <a:avLst/>
          </a:prstGeom>
          <a:solidFill>
            <a:srgbClr val="F2E9D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307592"/>
            <a:ext cx="13258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17304A"/>
                </a:solidFill>
                <a:latin typeface="Arial"/>
              </a:rPr>
              <a:t>목포 뭐 하지?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508760"/>
            <a:ext cx="822960" cy="91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50" b="1">
                <a:solidFill>
                  <a:srgbClr val="667064"/>
                </a:solidFill>
                <a:latin typeface="Arial"/>
              </a:rPr>
              <a:t>TEAM NOVA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371600"/>
            <a:ext cx="475488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0">
                <a:solidFill>
                  <a:srgbClr val="667064"/>
                </a:solidFill>
                <a:latin typeface="Arial"/>
              </a:rPr>
              <a:t>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42032" y="1371600"/>
            <a:ext cx="6400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0">
                <a:solidFill>
                  <a:srgbClr val="667064"/>
                </a:solidFill>
                <a:latin typeface="Arial"/>
              </a:rPr>
              <a:t>여행 만들기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6976" y="1371600"/>
            <a:ext cx="6400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0">
                <a:solidFill>
                  <a:srgbClr val="667064"/>
                </a:solidFill>
                <a:latin typeface="Arial"/>
              </a:rPr>
              <a:t>목포 탐색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1371600"/>
            <a:ext cx="475488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0">
                <a:solidFill>
                  <a:srgbClr val="667064"/>
                </a:solidFill>
                <a:latin typeface="Arial"/>
              </a:rPr>
              <a:t>여행 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272" y="1371600"/>
            <a:ext cx="475488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0">
                <a:solidFill>
                  <a:srgbClr val="667064"/>
                </a:solidFill>
                <a:latin typeface="Arial"/>
              </a:rPr>
              <a:t>기록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2624" y="1371600"/>
            <a:ext cx="475488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0">
                <a:solidFill>
                  <a:srgbClr val="667064"/>
                </a:solidFill>
                <a:latin typeface="Arial"/>
              </a:rPr>
              <a:t>라운지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22976" y="1371600"/>
            <a:ext cx="475488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1">
                <a:solidFill>
                  <a:srgbClr val="FF6B5E"/>
                </a:solidFill>
                <a:latin typeface="Arial"/>
              </a:rPr>
              <a:t>나의 목포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1709928"/>
            <a:ext cx="5486400" cy="201168"/>
          </a:xfrm>
          <a:prstGeom prst="rect">
            <a:avLst/>
          </a:prstGeom>
          <a:solidFill>
            <a:srgbClr val="F7F3EA"/>
          </a:solidFill>
          <a:ln>
            <a:solidFill>
              <a:srgbClr val="F7F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67512" y="1737360"/>
            <a:ext cx="566928" cy="128016"/>
          </a:xfrm>
          <a:prstGeom prst="roundRect">
            <a:avLst/>
          </a:prstGeom>
          <a:solidFill>
            <a:srgbClr val="E9E1CE"/>
          </a:solidFill>
          <a:ln>
            <a:solidFill>
              <a:srgbClr val="E9E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" y="1737360"/>
            <a:ext cx="457200" cy="1280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09" b="1">
                <a:solidFill>
                  <a:srgbClr val="2B4D72"/>
                </a:solidFill>
                <a:latin typeface="Arial"/>
              </a:rPr>
              <a:t>PROTOTYPE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1719072"/>
            <a:ext cx="169164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50" b="0">
                <a:solidFill>
                  <a:srgbClr val="667064"/>
                </a:solidFill>
                <a:latin typeface="Arial"/>
              </a:rPr>
              <a:t>실제 AI·관광·지도 API 연결 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2075688"/>
            <a:ext cx="118872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20" b="1">
                <a:solidFill>
                  <a:srgbClr val="667064"/>
                </a:solidFill>
                <a:latin typeface="Arial"/>
              </a:rPr>
              <a:t>MY MOKPO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2350008"/>
            <a:ext cx="219456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7304A"/>
                </a:solidFill>
                <a:latin typeface="Arial"/>
              </a:rPr>
              <a:t>나의 목포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2715768"/>
            <a:ext cx="283464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00" b="0">
                <a:solidFill>
                  <a:srgbClr val="667064"/>
                </a:solidFill>
                <a:latin typeface="Arial"/>
              </a:rPr>
              <a:t>내가 고른 여행, 내가 남긴 하루.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3108960"/>
            <a:ext cx="1051560" cy="621792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3209544"/>
            <a:ext cx="86868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2B4D72"/>
                </a:solidFill>
                <a:latin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" y="3474720"/>
            <a:ext cx="896112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50" b="0">
                <a:solidFill>
                  <a:srgbClr val="667064"/>
                </a:solidFill>
                <a:latin typeface="Arial"/>
              </a:rPr>
              <a:t>저장 코스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984248" y="3108960"/>
            <a:ext cx="1051560" cy="621792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75688" y="3209544"/>
            <a:ext cx="86868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2B4D72"/>
                </a:solidFill>
                <a:latin typeface="Arial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3474720"/>
            <a:ext cx="896112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50" b="0">
                <a:solidFill>
                  <a:srgbClr val="667064"/>
                </a:solidFill>
                <a:latin typeface="Arial"/>
              </a:rPr>
              <a:t>지난 여행 · 일기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191256" y="3108960"/>
            <a:ext cx="1051560" cy="621792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82696" y="3209544"/>
            <a:ext cx="86868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2B4D72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64408" y="3474720"/>
            <a:ext cx="896112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50" b="0">
                <a:solidFill>
                  <a:srgbClr val="667064"/>
                </a:solidFill>
                <a:latin typeface="Arial"/>
              </a:rPr>
              <a:t>스탬프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98264" y="3108960"/>
            <a:ext cx="1051560" cy="621792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89704" y="3209544"/>
            <a:ext cx="86868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2B4D72"/>
                </a:solidFill>
                <a:latin typeface="Arial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71416" y="3474720"/>
            <a:ext cx="896112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50" b="0">
                <a:solidFill>
                  <a:srgbClr val="667064"/>
                </a:solidFill>
                <a:latin typeface="Arial"/>
              </a:rPr>
              <a:t>쿠폰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" y="3959352"/>
            <a:ext cx="4892040" cy="566928"/>
          </a:xfrm>
          <a:prstGeom prst="roundRect">
            <a:avLst/>
          </a:prstGeom>
          <a:solidFill>
            <a:srgbClr val="F7F3EA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1832" y="4069080"/>
            <a:ext cx="182880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20" b="1">
                <a:solidFill>
                  <a:srgbClr val="17304A"/>
                </a:solidFill>
                <a:latin typeface="Arial"/>
              </a:rPr>
              <a:t>몽포리가 기억한 나의 여행 취향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834639" y="4050791"/>
            <a:ext cx="749808" cy="201168"/>
          </a:xfrm>
          <a:prstGeom prst="roundRect">
            <a:avLst/>
          </a:prstGeom>
          <a:solidFill>
            <a:srgbClr val="E9E1CE"/>
          </a:solidFill>
          <a:ln>
            <a:solidFill>
              <a:srgbClr val="E9E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89503" y="4050791"/>
            <a:ext cx="6400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50" b="1">
                <a:solidFill>
                  <a:srgbClr val="2B4D72"/>
                </a:solidFill>
                <a:latin typeface="Arial"/>
              </a:rPr>
              <a:t>#미식 여행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0" y="4050791"/>
            <a:ext cx="804672" cy="201168"/>
          </a:xfrm>
          <a:prstGeom prst="roundRect">
            <a:avLst/>
          </a:prstGeom>
          <a:solidFill>
            <a:srgbClr val="E9E1CE"/>
          </a:solidFill>
          <a:ln>
            <a:solidFill>
              <a:srgbClr val="E9E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12463" y="4050791"/>
            <a:ext cx="694944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50" b="1">
                <a:solidFill>
                  <a:srgbClr val="2B4D72"/>
                </a:solidFill>
                <a:latin typeface="Arial"/>
              </a:rPr>
              <a:t>#바다·노을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26280" y="4050791"/>
            <a:ext cx="822960" cy="201168"/>
          </a:xfrm>
          <a:prstGeom prst="roundRect">
            <a:avLst/>
          </a:prstGeom>
          <a:solidFill>
            <a:srgbClr val="E9E1CE"/>
          </a:solidFill>
          <a:ln>
            <a:solidFill>
              <a:srgbClr val="E9E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81144" y="4050791"/>
            <a:ext cx="713232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50" b="1">
                <a:solidFill>
                  <a:srgbClr val="2B4D72"/>
                </a:solidFill>
                <a:latin typeface="Arial"/>
              </a:rPr>
              <a:t>#조용한 여행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77240" y="4764024"/>
            <a:ext cx="4892040" cy="1078992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1832" y="4919472"/>
            <a:ext cx="118872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1">
                <a:solidFill>
                  <a:srgbClr val="17304A"/>
                </a:solidFill>
                <a:latin typeface="Arial"/>
              </a:rPr>
              <a:t>저장한 여행코스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1832" y="5239512"/>
            <a:ext cx="1828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20" b="1">
                <a:solidFill>
                  <a:srgbClr val="2B4D72"/>
                </a:solidFill>
                <a:latin typeface="Arial"/>
              </a:rPr>
              <a:t>느린 오후 로컬 여행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1832" y="5495544"/>
            <a:ext cx="33832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500" b="0">
                <a:solidFill>
                  <a:srgbClr val="667064"/>
                </a:solidFill>
                <a:latin typeface="Arial"/>
              </a:rPr>
              <a:t>항구의 식탁 → 골목의 온도 → 근대역사거리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663440" y="5202936"/>
            <a:ext cx="685800" cy="228600"/>
          </a:xfrm>
          <a:prstGeom prst="roundRect">
            <a:avLst/>
          </a:prstGeom>
          <a:solidFill>
            <a:srgbClr val="E9E1CE"/>
          </a:solidFill>
          <a:ln>
            <a:solidFill>
              <a:srgbClr val="E9E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3" y="5202936"/>
            <a:ext cx="576072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50" b="1">
                <a:solidFill>
                  <a:srgbClr val="2B4D72"/>
                </a:solidFill>
                <a:latin typeface="Arial"/>
              </a:rPr>
              <a:t>코스 열기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77240" y="6007608"/>
            <a:ext cx="4892040" cy="384048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41832" y="6099048"/>
            <a:ext cx="4389120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500" b="0">
                <a:solidFill>
                  <a:srgbClr val="17304A"/>
                </a:solidFill>
                <a:latin typeface="Arial"/>
              </a:rPr>
              <a:t>지난 여행 · 여행일기   /   내가 좋아한 장소   /   현장 사진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199632" y="1234440"/>
            <a:ext cx="3200400" cy="5074920"/>
          </a:xfrm>
          <a:prstGeom prst="roundRect">
            <a:avLst/>
          </a:prstGeom>
          <a:solidFill>
            <a:srgbClr val="F7F3EA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46520" y="1481328"/>
            <a:ext cx="10972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2B4D72"/>
                </a:solidFill>
                <a:latin typeface="Arial"/>
              </a:rPr>
              <a:t>화면 설명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28232" y="1874519"/>
            <a:ext cx="2697480" cy="694944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6537960" y="1984248"/>
            <a:ext cx="329184" cy="329184"/>
          </a:xfrm>
          <a:prstGeom prst="round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92824" y="1984248"/>
            <a:ext cx="219456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DF8"/>
                </a:solidFill>
                <a:latin typeface="Arial"/>
              </a:rPr>
              <a:t>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58584" y="1947672"/>
            <a:ext cx="2057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30" b="0">
                <a:solidFill>
                  <a:srgbClr val="17304A"/>
                </a:solidFill>
                <a:latin typeface="Arial"/>
              </a:rPr>
              <a:t>저장 코스와 지난 여행·일기의 개수를 요약한다.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428232" y="2679191"/>
            <a:ext cx="2697480" cy="694944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6537960" y="2788920"/>
            <a:ext cx="329184" cy="329184"/>
          </a:xfrm>
          <a:prstGeom prst="round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592824" y="2788920"/>
            <a:ext cx="219456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DF8"/>
                </a:solidFill>
                <a:latin typeface="Arial"/>
              </a:rPr>
              <a:t>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958584" y="2752344"/>
            <a:ext cx="2057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30" b="0">
                <a:solidFill>
                  <a:srgbClr val="17304A"/>
                </a:solidFill>
                <a:latin typeface="Arial"/>
              </a:rPr>
              <a:t>몽포리가 기억한 여행 취향을 태그 형태로 보여준다.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28232" y="3483863"/>
            <a:ext cx="2697480" cy="694944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6537960" y="3593591"/>
            <a:ext cx="329184" cy="329184"/>
          </a:xfrm>
          <a:prstGeom prst="round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592824" y="3593591"/>
            <a:ext cx="219456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DF8"/>
                </a:solidFill>
                <a:latin typeface="Arial"/>
              </a:rPr>
              <a:t>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958584" y="3557015"/>
            <a:ext cx="2057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30" b="0">
                <a:solidFill>
                  <a:srgbClr val="17304A"/>
                </a:solidFill>
                <a:latin typeface="Arial"/>
              </a:rPr>
              <a:t>저장 코스 열기·삭제, 일기 수정·공개설정·공유·삭제를 제공한다.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428232" y="4288536"/>
            <a:ext cx="2697480" cy="694944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6537960" y="4398264"/>
            <a:ext cx="329184" cy="329184"/>
          </a:xfrm>
          <a:prstGeom prst="round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592824" y="4398264"/>
            <a:ext cx="219456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DF8"/>
                </a:solidFill>
                <a:latin typeface="Arial"/>
              </a:rPr>
              <a:t>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958584" y="4361688"/>
            <a:ext cx="2057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30" b="0">
                <a:solidFill>
                  <a:srgbClr val="17304A"/>
                </a:solidFill>
                <a:latin typeface="Arial"/>
              </a:rPr>
              <a:t>비공개 현장 사진은 나의 목포에서만 표시하고 추천에서 제외한다.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132320" y="6510528"/>
            <a:ext cx="22860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750" b="0">
                <a:solidFill>
                  <a:srgbClr val="667064"/>
                </a:solidFill>
                <a:latin typeface="Arial"/>
              </a:rPr>
              <a:t>NOVA · 화면설계서 ·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411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F6B5E"/>
                </a:solidFill>
                <a:latin typeface="Arial"/>
              </a:rP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201168"/>
            <a:ext cx="4114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100" b="1">
                <a:solidFill>
                  <a:srgbClr val="17304A"/>
                </a:solidFill>
                <a:latin typeface="Arial"/>
              </a:rPr>
              <a:t>미션 · 스탬프 · 쿠폰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246888"/>
            <a:ext cx="356616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2B4D72"/>
                </a:solidFill>
                <a:latin typeface="Arial"/>
              </a:rPr>
              <a:t>MISSION_01  ·  UC-04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80467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667064"/>
                </a:solidFill>
                <a:latin typeface="Arial"/>
              </a:rPr>
              <a:t>몽포리의 작은 퀘스트를 수행하고 스탬프·로컬 쿠폰·현장 사진 아카이브를 경험하는 확장 화면입니다.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33271"/>
            <a:ext cx="8915400" cy="13716"/>
          </a:xfrm>
          <a:prstGeom prst="rect">
            <a:avLst/>
          </a:prstGeom>
          <a:solidFill>
            <a:srgbClr val="D8C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5486400" cy="5074920"/>
          </a:xfrm>
          <a:prstGeom prst="roundRect">
            <a:avLst/>
          </a:prstGeom>
          <a:solidFill>
            <a:srgbClr val="F2E9D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307592"/>
            <a:ext cx="13258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17304A"/>
                </a:solidFill>
                <a:latin typeface="Arial"/>
              </a:rPr>
              <a:t>목포 뭐 하지?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508760"/>
            <a:ext cx="822960" cy="91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50" b="1">
                <a:solidFill>
                  <a:srgbClr val="667064"/>
                </a:solidFill>
                <a:latin typeface="Arial"/>
              </a:rPr>
              <a:t>TEAM NOVA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371600"/>
            <a:ext cx="475488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0">
                <a:solidFill>
                  <a:srgbClr val="667064"/>
                </a:solidFill>
                <a:latin typeface="Arial"/>
              </a:rPr>
              <a:t>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42032" y="1371600"/>
            <a:ext cx="6400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0">
                <a:solidFill>
                  <a:srgbClr val="667064"/>
                </a:solidFill>
                <a:latin typeface="Arial"/>
              </a:rPr>
              <a:t>여행 만들기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6976" y="1371600"/>
            <a:ext cx="6400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0">
                <a:solidFill>
                  <a:srgbClr val="667064"/>
                </a:solidFill>
                <a:latin typeface="Arial"/>
              </a:rPr>
              <a:t>목포 탐색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1371600"/>
            <a:ext cx="475488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1">
                <a:solidFill>
                  <a:srgbClr val="FF6B5E"/>
                </a:solidFill>
                <a:latin typeface="Arial"/>
              </a:rPr>
              <a:t>여행 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272" y="1371600"/>
            <a:ext cx="475488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0">
                <a:solidFill>
                  <a:srgbClr val="667064"/>
                </a:solidFill>
                <a:latin typeface="Arial"/>
              </a:rPr>
              <a:t>기록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2624" y="1371600"/>
            <a:ext cx="475488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0">
                <a:solidFill>
                  <a:srgbClr val="667064"/>
                </a:solidFill>
                <a:latin typeface="Arial"/>
              </a:rPr>
              <a:t>라운지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22976" y="1371600"/>
            <a:ext cx="475488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0">
                <a:solidFill>
                  <a:srgbClr val="667064"/>
                </a:solidFill>
                <a:latin typeface="Arial"/>
              </a:rPr>
              <a:t>나의 목포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1709928"/>
            <a:ext cx="5486400" cy="201168"/>
          </a:xfrm>
          <a:prstGeom prst="rect">
            <a:avLst/>
          </a:prstGeom>
          <a:solidFill>
            <a:srgbClr val="F7F3EA"/>
          </a:solidFill>
          <a:ln>
            <a:solidFill>
              <a:srgbClr val="F7F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67512" y="1737360"/>
            <a:ext cx="566928" cy="128016"/>
          </a:xfrm>
          <a:prstGeom prst="roundRect">
            <a:avLst/>
          </a:prstGeom>
          <a:solidFill>
            <a:srgbClr val="E9E1CE"/>
          </a:solidFill>
          <a:ln>
            <a:solidFill>
              <a:srgbClr val="E9E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" y="1737360"/>
            <a:ext cx="457200" cy="1280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09" b="1">
                <a:solidFill>
                  <a:srgbClr val="2B4D72"/>
                </a:solidFill>
                <a:latin typeface="Arial"/>
              </a:rPr>
              <a:t>PROTOTYPE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1719072"/>
            <a:ext cx="169164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50" b="0">
                <a:solidFill>
                  <a:srgbClr val="667064"/>
                </a:solidFill>
                <a:latin typeface="Arial"/>
              </a:rPr>
              <a:t>실제 AI·관광·지도 API 연결 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2075688"/>
            <a:ext cx="237744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20" b="1">
                <a:solidFill>
                  <a:srgbClr val="667064"/>
                </a:solidFill>
                <a:latin typeface="Arial"/>
              </a:rPr>
              <a:t>MONGPORI’S LITTLE QUESTS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2350008"/>
            <a:ext cx="320040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7304A"/>
                </a:solidFill>
                <a:latin typeface="Arial"/>
              </a:rPr>
              <a:t>작은 발견을 모으는 항해.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2715768"/>
            <a:ext cx="38404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570" b="0">
                <a:solidFill>
                  <a:srgbClr val="667064"/>
                </a:solidFill>
                <a:latin typeface="Arial"/>
              </a:rPr>
              <a:t>사진·코드·위치 확인 흐름을 체험하는 DEMO 미션.</a:t>
            </a:r>
          </a:p>
        </p:txBody>
      </p:sp>
      <p:pic>
        <p:nvPicPr>
          <p:cNvPr id="24" name="Picture 23" descr="mongpori-sta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2103120"/>
            <a:ext cx="1097280" cy="109728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77240" y="3172968"/>
            <a:ext cx="12801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80" b="1">
                <a:solidFill>
                  <a:srgbClr val="17304A"/>
                </a:solidFill>
                <a:latin typeface="Arial"/>
              </a:rPr>
              <a:t>미션 스탬프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3502152"/>
            <a:ext cx="2194560" cy="594360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86968" y="3621024"/>
            <a:ext cx="310896" cy="310896"/>
          </a:xfrm>
          <a:prstGeom prst="roundRect">
            <a:avLst/>
          </a:prstGeom>
          <a:solidFill>
            <a:srgbClr val="E9E1CE"/>
          </a:solidFill>
          <a:ln>
            <a:solidFill>
              <a:srgbClr val="E9E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2" y="3621024"/>
            <a:ext cx="201168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20" b="1">
                <a:solidFill>
                  <a:srgbClr val="2B4D72"/>
                </a:solidFill>
                <a:latin typeface="Arial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07592" y="3593592"/>
            <a:ext cx="123444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580" b="1">
                <a:solidFill>
                  <a:srgbClr val="17304A"/>
                </a:solidFill>
                <a:latin typeface="Arial"/>
              </a:rPr>
              <a:t>목포 한 끼 인증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94560" y="3858768"/>
            <a:ext cx="594360" cy="1280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450" b="1">
                <a:solidFill>
                  <a:srgbClr val="FF6B5E"/>
                </a:solidFill>
                <a:latin typeface="Arial"/>
              </a:rPr>
              <a:t>미션 시작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00400" y="3502152"/>
            <a:ext cx="2194560" cy="594360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310128" y="3621024"/>
            <a:ext cx="310896" cy="310896"/>
          </a:xfrm>
          <a:prstGeom prst="roundRect">
            <a:avLst/>
          </a:prstGeom>
          <a:solidFill>
            <a:srgbClr val="E9E1CE"/>
          </a:solidFill>
          <a:ln>
            <a:solidFill>
              <a:srgbClr val="E9E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64992" y="3621024"/>
            <a:ext cx="201168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20" b="1">
                <a:solidFill>
                  <a:srgbClr val="2B4D72"/>
                </a:solidFill>
                <a:latin typeface="Arial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30752" y="3593592"/>
            <a:ext cx="123444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580" b="1">
                <a:solidFill>
                  <a:srgbClr val="17304A"/>
                </a:solidFill>
                <a:latin typeface="Arial"/>
              </a:rPr>
              <a:t>골목의 색 찾기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17720" y="3858768"/>
            <a:ext cx="594360" cy="1280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450" b="1">
                <a:solidFill>
                  <a:srgbClr val="FF6B5E"/>
                </a:solidFill>
                <a:latin typeface="Arial"/>
              </a:rPr>
              <a:t>미션 시작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" y="4251960"/>
            <a:ext cx="2194560" cy="594360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86968" y="4370832"/>
            <a:ext cx="310896" cy="310896"/>
          </a:xfrm>
          <a:prstGeom prst="roundRect">
            <a:avLst/>
          </a:prstGeom>
          <a:solidFill>
            <a:srgbClr val="E9E1CE"/>
          </a:solidFill>
          <a:ln>
            <a:solidFill>
              <a:srgbClr val="E9E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1832" y="4370832"/>
            <a:ext cx="201168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20" b="1">
                <a:solidFill>
                  <a:srgbClr val="2B4D72"/>
                </a:solidFill>
                <a:latin typeface="Arial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07592" y="4343400"/>
            <a:ext cx="123444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580" b="1">
                <a:solidFill>
                  <a:srgbClr val="17304A"/>
                </a:solidFill>
                <a:latin typeface="Arial"/>
              </a:rPr>
              <a:t>항구의 노을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94560" y="4608576"/>
            <a:ext cx="594360" cy="1280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450" b="1">
                <a:solidFill>
                  <a:srgbClr val="FF6B5E"/>
                </a:solidFill>
                <a:latin typeface="Arial"/>
              </a:rPr>
              <a:t>미션 시작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200400" y="4251960"/>
            <a:ext cx="2194560" cy="594360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3310128" y="4370832"/>
            <a:ext cx="310896" cy="310896"/>
          </a:xfrm>
          <a:prstGeom prst="roundRect">
            <a:avLst/>
          </a:prstGeom>
          <a:solidFill>
            <a:srgbClr val="E9E1CE"/>
          </a:solidFill>
          <a:ln>
            <a:solidFill>
              <a:srgbClr val="E9E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64992" y="4370832"/>
            <a:ext cx="201168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20" b="1">
                <a:solidFill>
                  <a:srgbClr val="2B4D72"/>
                </a:solidFill>
                <a:latin typeface="Arial"/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30752" y="4343400"/>
            <a:ext cx="123444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580" b="1">
                <a:solidFill>
                  <a:srgbClr val="17304A"/>
                </a:solidFill>
                <a:latin typeface="Arial"/>
              </a:rPr>
              <a:t>목포다운 한 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17720" y="4608576"/>
            <a:ext cx="594360" cy="1280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450" b="1">
                <a:solidFill>
                  <a:srgbClr val="FF6B5E"/>
                </a:solidFill>
                <a:latin typeface="Arial"/>
              </a:rPr>
              <a:t>미션 시작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77240" y="5212079"/>
            <a:ext cx="4892040" cy="777240"/>
          </a:xfrm>
          <a:prstGeom prst="roundRect">
            <a:avLst/>
          </a:prstGeom>
          <a:solidFill>
            <a:srgbClr val="F7F3EA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41832" y="5349240"/>
            <a:ext cx="1828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1">
                <a:solidFill>
                  <a:srgbClr val="17304A"/>
                </a:solidFill>
                <a:latin typeface="Arial"/>
              </a:rPr>
              <a:t>스탬프로 열리는 로컬 쿠폰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1832" y="5596127"/>
            <a:ext cx="1463040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80" b="0">
                <a:solidFill>
                  <a:srgbClr val="667064"/>
                </a:solidFill>
                <a:latin typeface="Arial"/>
              </a:rPr>
              <a:t>DEMO · 실제 사용 불가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663440" y="5422392"/>
            <a:ext cx="685800" cy="228600"/>
          </a:xfrm>
          <a:prstGeom prst="round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718303" y="5422392"/>
            <a:ext cx="576072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50" b="1">
                <a:solidFill>
                  <a:srgbClr val="FFFDF8"/>
                </a:solidFill>
                <a:latin typeface="Arial"/>
              </a:rPr>
              <a:t>쿠폰 받기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99632" y="1234440"/>
            <a:ext cx="3200400" cy="5074920"/>
          </a:xfrm>
          <a:prstGeom prst="roundRect">
            <a:avLst/>
          </a:prstGeom>
          <a:solidFill>
            <a:srgbClr val="F7F3EA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46520" y="1481328"/>
            <a:ext cx="10972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2B4D72"/>
                </a:solidFill>
                <a:latin typeface="Arial"/>
              </a:rPr>
              <a:t>화면 설명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28232" y="1874519"/>
            <a:ext cx="2697480" cy="694944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6537960" y="1984248"/>
            <a:ext cx="329184" cy="329184"/>
          </a:xfrm>
          <a:prstGeom prst="round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92824" y="1984248"/>
            <a:ext cx="219456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DF8"/>
                </a:solidFill>
                <a:latin typeface="Arial"/>
              </a:rPr>
              <a:t>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58584" y="1947672"/>
            <a:ext cx="2057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30" b="0">
                <a:solidFill>
                  <a:srgbClr val="17304A"/>
                </a:solidFill>
                <a:latin typeface="Arial"/>
              </a:rPr>
              <a:t>목포 한 끼 인증·골목의 색 찾기·항구의 노을 등 미션을 제공한다.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28232" y="2679191"/>
            <a:ext cx="2697480" cy="694944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6537960" y="2788920"/>
            <a:ext cx="329184" cy="329184"/>
          </a:xfrm>
          <a:prstGeom prst="round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92824" y="2788920"/>
            <a:ext cx="219456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DF8"/>
                </a:solidFill>
                <a:latin typeface="Arial"/>
              </a:rPr>
              <a:t>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58584" y="2752344"/>
            <a:ext cx="2057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30" b="0">
                <a:solidFill>
                  <a:srgbClr val="17304A"/>
                </a:solidFill>
                <a:latin typeface="Arial"/>
              </a:rPr>
              <a:t>QR/코드·사진·위치 확인 흐름을 체험한다.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428232" y="3483863"/>
            <a:ext cx="2697480" cy="694944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537960" y="3593591"/>
            <a:ext cx="329184" cy="329184"/>
          </a:xfrm>
          <a:prstGeom prst="round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592824" y="3593591"/>
            <a:ext cx="219456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DF8"/>
                </a:solidFill>
                <a:latin typeface="Arial"/>
              </a:rPr>
              <a:t>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958584" y="3557015"/>
            <a:ext cx="2057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30" b="0">
                <a:solidFill>
                  <a:srgbClr val="17304A"/>
                </a:solidFill>
                <a:latin typeface="Arial"/>
              </a:rPr>
              <a:t>스탬프 수에 따라 DEMO 쿠폰을 잠금/해제한다.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428232" y="4288536"/>
            <a:ext cx="2697480" cy="694944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6537960" y="4398264"/>
            <a:ext cx="329184" cy="329184"/>
          </a:xfrm>
          <a:prstGeom prst="round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592824" y="4398264"/>
            <a:ext cx="219456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DF8"/>
                </a:solidFill>
                <a:latin typeface="Arial"/>
              </a:rPr>
              <a:t>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958584" y="4361688"/>
            <a:ext cx="2057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30" b="0">
                <a:solidFill>
                  <a:srgbClr val="17304A"/>
                </a:solidFill>
                <a:latin typeface="Arial"/>
              </a:rPr>
              <a:t>Prototype에서는 실제 방문 인증·실사용 쿠폰이 아닌 기능 시연임을 명시한다.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132320" y="6510528"/>
            <a:ext cx="22860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750" b="0">
                <a:solidFill>
                  <a:srgbClr val="667064"/>
                </a:solidFill>
                <a:latin typeface="Arial"/>
              </a:rPr>
              <a:t>NOVA · 화면설계서 ·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411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F6B5E"/>
                </a:solidFill>
                <a:latin typeface="Arial"/>
              </a:rPr>
              <a:t>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201168"/>
            <a:ext cx="4114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100" b="1">
                <a:solidFill>
                  <a:srgbClr val="17304A"/>
                </a:solidFill>
                <a:latin typeface="Arial"/>
              </a:rPr>
              <a:t>여행자 라운지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246888"/>
            <a:ext cx="356616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2B4D72"/>
                </a:solidFill>
                <a:latin typeface="Arial"/>
              </a:rPr>
              <a:t>LOUNGE_01  ·  -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80467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667064"/>
                </a:solidFill>
                <a:latin typeface="Arial"/>
              </a:rPr>
              <a:t>짧은 현지 팁·한 줄 후기·질문을 공유하는 커뮤니티 화면입니다.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33271"/>
            <a:ext cx="8915400" cy="13716"/>
          </a:xfrm>
          <a:prstGeom prst="rect">
            <a:avLst/>
          </a:prstGeom>
          <a:solidFill>
            <a:srgbClr val="D8C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5486400" cy="5074920"/>
          </a:xfrm>
          <a:prstGeom prst="roundRect">
            <a:avLst/>
          </a:prstGeom>
          <a:solidFill>
            <a:srgbClr val="F2E9D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307592"/>
            <a:ext cx="13258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17304A"/>
                </a:solidFill>
                <a:latin typeface="Arial"/>
              </a:rPr>
              <a:t>목포 뭐 하지?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508760"/>
            <a:ext cx="822960" cy="91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50" b="1">
                <a:solidFill>
                  <a:srgbClr val="667064"/>
                </a:solidFill>
                <a:latin typeface="Arial"/>
              </a:rPr>
              <a:t>TEAM NOVA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371600"/>
            <a:ext cx="475488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0">
                <a:solidFill>
                  <a:srgbClr val="667064"/>
                </a:solidFill>
                <a:latin typeface="Arial"/>
              </a:rPr>
              <a:t>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42032" y="1371600"/>
            <a:ext cx="6400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0">
                <a:solidFill>
                  <a:srgbClr val="667064"/>
                </a:solidFill>
                <a:latin typeface="Arial"/>
              </a:rPr>
              <a:t>여행 만들기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6976" y="1371600"/>
            <a:ext cx="6400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0">
                <a:solidFill>
                  <a:srgbClr val="667064"/>
                </a:solidFill>
                <a:latin typeface="Arial"/>
              </a:rPr>
              <a:t>목포 탐색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1371600"/>
            <a:ext cx="475488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0">
                <a:solidFill>
                  <a:srgbClr val="667064"/>
                </a:solidFill>
                <a:latin typeface="Arial"/>
              </a:rPr>
              <a:t>여행 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272" y="1371600"/>
            <a:ext cx="475488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0">
                <a:solidFill>
                  <a:srgbClr val="667064"/>
                </a:solidFill>
                <a:latin typeface="Arial"/>
              </a:rPr>
              <a:t>기록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2624" y="1371600"/>
            <a:ext cx="475488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1">
                <a:solidFill>
                  <a:srgbClr val="FF6B5E"/>
                </a:solidFill>
                <a:latin typeface="Arial"/>
              </a:rPr>
              <a:t>라운지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22976" y="1371600"/>
            <a:ext cx="475488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0">
                <a:solidFill>
                  <a:srgbClr val="667064"/>
                </a:solidFill>
                <a:latin typeface="Arial"/>
              </a:rPr>
              <a:t>나의 목포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1709928"/>
            <a:ext cx="5486400" cy="201168"/>
          </a:xfrm>
          <a:prstGeom prst="rect">
            <a:avLst/>
          </a:prstGeom>
          <a:solidFill>
            <a:srgbClr val="F7F3EA"/>
          </a:solidFill>
          <a:ln>
            <a:solidFill>
              <a:srgbClr val="F7F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67512" y="1737360"/>
            <a:ext cx="566928" cy="128016"/>
          </a:xfrm>
          <a:prstGeom prst="roundRect">
            <a:avLst/>
          </a:prstGeom>
          <a:solidFill>
            <a:srgbClr val="E9E1CE"/>
          </a:solidFill>
          <a:ln>
            <a:solidFill>
              <a:srgbClr val="E9E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" y="1737360"/>
            <a:ext cx="457200" cy="1280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09" b="1">
                <a:solidFill>
                  <a:srgbClr val="2B4D72"/>
                </a:solidFill>
                <a:latin typeface="Arial"/>
              </a:rPr>
              <a:t>PROTOTYPE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1719072"/>
            <a:ext cx="169164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50" b="0">
                <a:solidFill>
                  <a:srgbClr val="667064"/>
                </a:solidFill>
                <a:latin typeface="Arial"/>
              </a:rPr>
              <a:t>실제 AI·관광·지도 API 연결 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2075688"/>
            <a:ext cx="164592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20" b="1">
                <a:solidFill>
                  <a:srgbClr val="667064"/>
                </a:solidFill>
                <a:latin typeface="Arial"/>
              </a:rPr>
              <a:t>TRAVELER LOUNGE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2350008"/>
            <a:ext cx="29260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7304A"/>
                </a:solidFill>
                <a:latin typeface="Arial"/>
              </a:rPr>
              <a:t>목포 여행자 라운지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2724912"/>
            <a:ext cx="320040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00" b="0">
                <a:solidFill>
                  <a:srgbClr val="667064"/>
                </a:solidFill>
                <a:latin typeface="Arial"/>
              </a:rPr>
              <a:t>짧은 팁, 한 줄 후기, 궁금한 이야기.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3136392"/>
            <a:ext cx="4892040" cy="502920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4400" y="3236976"/>
            <a:ext cx="594360" cy="256032"/>
          </a:xfrm>
          <a:prstGeom prst="roundRect">
            <a:avLst/>
          </a:prstGeom>
          <a:solidFill>
            <a:srgbClr val="E9E1CE"/>
          </a:solidFill>
          <a:ln>
            <a:solidFill>
              <a:srgbClr val="E9E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9264" y="3236976"/>
            <a:ext cx="484632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70" b="1">
                <a:solidFill>
                  <a:srgbClr val="2B4D72"/>
                </a:solidFill>
                <a:latin typeface="Arial"/>
              </a:rPr>
              <a:t>현지 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3227832"/>
            <a:ext cx="265176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540" b="0">
                <a:solidFill>
                  <a:srgbClr val="667064"/>
                </a:solidFill>
                <a:latin typeface="Arial"/>
              </a:rPr>
              <a:t>목포에서 발견한 작은 이야기를 나눠주세요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0" y="3227832"/>
            <a:ext cx="713232" cy="256032"/>
          </a:xfrm>
          <a:prstGeom prst="round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09744" y="3227832"/>
            <a:ext cx="603504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70" b="1">
                <a:solidFill>
                  <a:srgbClr val="FFFDF8"/>
                </a:solidFill>
                <a:latin typeface="Arial"/>
              </a:rPr>
              <a:t>글 남기기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3886200"/>
            <a:ext cx="4892040" cy="530352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1832" y="3977639"/>
            <a:ext cx="914400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550" b="1">
                <a:solidFill>
                  <a:srgbClr val="2B4D72"/>
                </a:solidFill>
                <a:latin typeface="Arial"/>
              </a:rPr>
              <a:t>목포토박이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37360" y="3968496"/>
            <a:ext cx="31089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520" b="0">
                <a:solidFill>
                  <a:srgbClr val="17304A"/>
                </a:solidFill>
                <a:latin typeface="Arial"/>
              </a:rPr>
              <a:t>근대역사관은 오후 3시 전후가 비교적 여유로워요.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4041648"/>
            <a:ext cx="457200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450" b="1">
                <a:solidFill>
                  <a:srgbClr val="FF6B5E"/>
                </a:solidFill>
                <a:latin typeface="Arial"/>
              </a:rPr>
              <a:t>♡ 12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4572000"/>
            <a:ext cx="4892040" cy="530352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1832" y="4663440"/>
            <a:ext cx="914400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550" b="1">
                <a:solidFill>
                  <a:srgbClr val="2B4D72"/>
                </a:solidFill>
                <a:latin typeface="Arial"/>
              </a:rPr>
              <a:t>여행자A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37360" y="4654296"/>
            <a:ext cx="31089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520" b="0">
                <a:solidFill>
                  <a:srgbClr val="17304A"/>
                </a:solidFill>
                <a:latin typeface="Arial"/>
              </a:rPr>
              <a:t>항구 쪽 카페는 노을 시간대가 예뻐요.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4727448"/>
            <a:ext cx="457200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450" b="1">
                <a:solidFill>
                  <a:srgbClr val="FF6B5E"/>
                </a:solidFill>
                <a:latin typeface="Arial"/>
              </a:rPr>
              <a:t>♡ 12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" y="5257800"/>
            <a:ext cx="4892040" cy="530352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1832" y="5349240"/>
            <a:ext cx="914400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550" b="1">
                <a:solidFill>
                  <a:srgbClr val="2B4D72"/>
                </a:solidFill>
                <a:latin typeface="Arial"/>
              </a:rPr>
              <a:t>여행자B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37360" y="5340096"/>
            <a:ext cx="31089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520" b="0">
                <a:solidFill>
                  <a:srgbClr val="17304A"/>
                </a:solidFill>
                <a:latin typeface="Arial"/>
              </a:rPr>
              <a:t>혼자 먹기 좋은 곳 추천해주세요!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0" y="5413248"/>
            <a:ext cx="457200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450" b="1">
                <a:solidFill>
                  <a:srgbClr val="FF6B5E"/>
                </a:solidFill>
                <a:latin typeface="Arial"/>
              </a:rPr>
              <a:t>♡ 12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99632" y="1234440"/>
            <a:ext cx="3200400" cy="5074920"/>
          </a:xfrm>
          <a:prstGeom prst="roundRect">
            <a:avLst/>
          </a:prstGeom>
          <a:solidFill>
            <a:srgbClr val="F7F3EA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46520" y="1481328"/>
            <a:ext cx="10972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2B4D72"/>
                </a:solidFill>
                <a:latin typeface="Arial"/>
              </a:rPr>
              <a:t>화면 설명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28232" y="1874519"/>
            <a:ext cx="2697480" cy="694944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537960" y="1984248"/>
            <a:ext cx="329184" cy="329184"/>
          </a:xfrm>
          <a:prstGeom prst="round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92824" y="1984248"/>
            <a:ext cx="219456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DF8"/>
                </a:solidFill>
                <a:latin typeface="Arial"/>
              </a:rP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58584" y="1947672"/>
            <a:ext cx="2057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30" b="0">
                <a:solidFill>
                  <a:srgbClr val="17304A"/>
                </a:solidFill>
                <a:latin typeface="Arial"/>
              </a:rPr>
              <a:t>현지 팁·한 줄 후기·질문 유형을 선택해 글을 작성한다.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28232" y="2679191"/>
            <a:ext cx="2697480" cy="694944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537960" y="2788920"/>
            <a:ext cx="329184" cy="329184"/>
          </a:xfrm>
          <a:prstGeom prst="round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92824" y="2788920"/>
            <a:ext cx="219456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DF8"/>
                </a:solidFill>
                <a:latin typeface="Arial"/>
              </a:rPr>
              <a:t>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58584" y="2752344"/>
            <a:ext cx="2057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30" b="0">
                <a:solidFill>
                  <a:srgbClr val="17304A"/>
                </a:solidFill>
                <a:latin typeface="Arial"/>
              </a:rPr>
              <a:t>게시글과 공감 수를 제공한다.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28232" y="3483863"/>
            <a:ext cx="2697480" cy="694944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6537960" y="3593591"/>
            <a:ext cx="329184" cy="329184"/>
          </a:xfrm>
          <a:prstGeom prst="round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92824" y="3593591"/>
            <a:ext cx="219456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DF8"/>
                </a:solidFill>
                <a:latin typeface="Arial"/>
              </a:rPr>
              <a:t>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58584" y="3557015"/>
            <a:ext cx="2057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30" b="0">
                <a:solidFill>
                  <a:srgbClr val="17304A"/>
                </a:solidFill>
                <a:latin typeface="Arial"/>
              </a:rPr>
              <a:t>Mini Blog·미션·공동 사진 아카이브와 연결한다.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428232" y="4288536"/>
            <a:ext cx="2697480" cy="694944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6537960" y="4398264"/>
            <a:ext cx="329184" cy="329184"/>
          </a:xfrm>
          <a:prstGeom prst="round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92824" y="4398264"/>
            <a:ext cx="219456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DF8"/>
                </a:solidFill>
                <a:latin typeface="Arial"/>
              </a:rPr>
              <a:t>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58584" y="4361688"/>
            <a:ext cx="2057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30" b="0">
                <a:solidFill>
                  <a:srgbClr val="17304A"/>
                </a:solidFill>
                <a:latin typeface="Arial"/>
              </a:rPr>
              <a:t>여행 전체 기록은 Mini Blog, 짧은 대화형 UGC는 라운지로 역할을 분리한다.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132320" y="6510528"/>
            <a:ext cx="22860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750" b="0">
                <a:solidFill>
                  <a:srgbClr val="667064"/>
                </a:solidFill>
                <a:latin typeface="Arial"/>
              </a:rPr>
              <a:t>NOVA · 화면설계서 ·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411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F6B5E"/>
                </a:solidFill>
                <a:latin typeface="Arial"/>
              </a:rPr>
              <a:t>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201168"/>
            <a:ext cx="4114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100" b="1">
                <a:solidFill>
                  <a:srgbClr val="17304A"/>
                </a:solidFill>
                <a:latin typeface="Arial"/>
              </a:rPr>
              <a:t>추천 데이터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246888"/>
            <a:ext cx="356616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2B4D72"/>
                </a:solidFill>
                <a:latin typeface="Arial"/>
              </a:rPr>
              <a:t>DATA_01  ·  UC-03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80467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667064"/>
                </a:solidFill>
                <a:latin typeface="Arial"/>
              </a:rPr>
              <a:t>공개·동의된 여행자 기록이 다음 여행자의 추천 근거로 연결되는 Prototype의 핵심 차별화 화면입니다.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33271"/>
            <a:ext cx="8915400" cy="13716"/>
          </a:xfrm>
          <a:prstGeom prst="rect">
            <a:avLst/>
          </a:prstGeom>
          <a:solidFill>
            <a:srgbClr val="D8C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5486400" cy="5074920"/>
          </a:xfrm>
          <a:prstGeom prst="roundRect">
            <a:avLst/>
          </a:prstGeom>
          <a:solidFill>
            <a:srgbClr val="F2E9D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307592"/>
            <a:ext cx="13258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17304A"/>
                </a:solidFill>
                <a:latin typeface="Arial"/>
              </a:rPr>
              <a:t>목포 뭐 하지?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508760"/>
            <a:ext cx="822960" cy="91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50" b="1">
                <a:solidFill>
                  <a:srgbClr val="667064"/>
                </a:solidFill>
                <a:latin typeface="Arial"/>
              </a:rPr>
              <a:t>TEAM NOVA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371600"/>
            <a:ext cx="475488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1">
                <a:solidFill>
                  <a:srgbClr val="FF6B5E"/>
                </a:solidFill>
                <a:latin typeface="Arial"/>
              </a:rPr>
              <a:t>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42032" y="1371600"/>
            <a:ext cx="6400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0">
                <a:solidFill>
                  <a:srgbClr val="667064"/>
                </a:solidFill>
                <a:latin typeface="Arial"/>
              </a:rPr>
              <a:t>여행 만들기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6976" y="1371600"/>
            <a:ext cx="6400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0">
                <a:solidFill>
                  <a:srgbClr val="667064"/>
                </a:solidFill>
                <a:latin typeface="Arial"/>
              </a:rPr>
              <a:t>목포 탐색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1371600"/>
            <a:ext cx="475488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0">
                <a:solidFill>
                  <a:srgbClr val="667064"/>
                </a:solidFill>
                <a:latin typeface="Arial"/>
              </a:rPr>
              <a:t>여행 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272" y="1371600"/>
            <a:ext cx="475488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0">
                <a:solidFill>
                  <a:srgbClr val="667064"/>
                </a:solidFill>
                <a:latin typeface="Arial"/>
              </a:rPr>
              <a:t>기록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2624" y="1371600"/>
            <a:ext cx="475488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0">
                <a:solidFill>
                  <a:srgbClr val="667064"/>
                </a:solidFill>
                <a:latin typeface="Arial"/>
              </a:rPr>
              <a:t>라운지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22976" y="1371600"/>
            <a:ext cx="475488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" b="0">
                <a:solidFill>
                  <a:srgbClr val="667064"/>
                </a:solidFill>
                <a:latin typeface="Arial"/>
              </a:rPr>
              <a:t>나의 목포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1709928"/>
            <a:ext cx="5486400" cy="201168"/>
          </a:xfrm>
          <a:prstGeom prst="rect">
            <a:avLst/>
          </a:prstGeom>
          <a:solidFill>
            <a:srgbClr val="F7F3EA"/>
          </a:solidFill>
          <a:ln>
            <a:solidFill>
              <a:srgbClr val="F7F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67512" y="1737360"/>
            <a:ext cx="566928" cy="128016"/>
          </a:xfrm>
          <a:prstGeom prst="roundRect">
            <a:avLst/>
          </a:prstGeom>
          <a:solidFill>
            <a:srgbClr val="E9E1CE"/>
          </a:solidFill>
          <a:ln>
            <a:solidFill>
              <a:srgbClr val="E9E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" y="1737360"/>
            <a:ext cx="457200" cy="1280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09" b="1">
                <a:solidFill>
                  <a:srgbClr val="2B4D72"/>
                </a:solidFill>
                <a:latin typeface="Arial"/>
              </a:rPr>
              <a:t>PROTOTYPE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1719072"/>
            <a:ext cx="169164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50" b="0">
                <a:solidFill>
                  <a:srgbClr val="667064"/>
                </a:solidFill>
                <a:latin typeface="Arial"/>
              </a:rPr>
              <a:t>실제 AI·관광·지도 API 연결 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2075688"/>
            <a:ext cx="228600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20" b="1">
                <a:solidFill>
                  <a:srgbClr val="667064"/>
                </a:solidFill>
                <a:latin typeface="Arial"/>
              </a:rPr>
              <a:t>NOVA AI / EVIDENCE EXPLORER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2350008"/>
            <a:ext cx="365760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7304A"/>
                </a:solidFill>
                <a:latin typeface="Arial"/>
              </a:rPr>
              <a:t>내 기록이 다음 추천이 되는 순간.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3081528"/>
            <a:ext cx="1051560" cy="640080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3172968"/>
            <a:ext cx="8686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2B4D72"/>
                </a:solidFill>
                <a:latin typeface="Arial"/>
              </a:rPr>
              <a:t>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" y="3456432"/>
            <a:ext cx="896112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30" b="0">
                <a:solidFill>
                  <a:srgbClr val="667064"/>
                </a:solidFill>
                <a:latin typeface="Arial"/>
              </a:rPr>
              <a:t>공개 기록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984248" y="3081528"/>
            <a:ext cx="1051560" cy="640080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75688" y="3172968"/>
            <a:ext cx="8686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2B4D72"/>
                </a:solidFill>
                <a:latin typeface="Arial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3456432"/>
            <a:ext cx="896112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30" b="0">
                <a:solidFill>
                  <a:srgbClr val="667064"/>
                </a:solidFill>
                <a:latin typeface="Arial"/>
              </a:rPr>
              <a:t>추천 활용 동의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191256" y="3081528"/>
            <a:ext cx="1051560" cy="640080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82696" y="3172968"/>
            <a:ext cx="8686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2B4D72"/>
                </a:solidFill>
                <a:latin typeface="Arial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64408" y="3456432"/>
            <a:ext cx="896112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30" b="0">
                <a:solidFill>
                  <a:srgbClr val="667064"/>
                </a:solidFill>
                <a:latin typeface="Arial"/>
              </a:rPr>
              <a:t>비공개 · 검색 제외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98264" y="3081528"/>
            <a:ext cx="1051560" cy="640080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89704" y="3172968"/>
            <a:ext cx="8686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2B4D72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71416" y="3456432"/>
            <a:ext cx="896112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30" b="0">
                <a:solidFill>
                  <a:srgbClr val="667064"/>
                </a:solidFill>
                <a:latin typeface="Arial"/>
              </a:rPr>
              <a:t>내가 보탠 데이터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3959352"/>
            <a:ext cx="182880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570" b="1">
                <a:solidFill>
                  <a:srgbClr val="667064"/>
                </a:solidFill>
                <a:latin typeface="Arial"/>
              </a:rPr>
              <a:t>LOCAL TRAVEL DATA CYCLE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" y="4297680"/>
            <a:ext cx="1444752" cy="566928"/>
          </a:xfrm>
          <a:prstGeom prst="roundRect">
            <a:avLst/>
          </a:prstGeom>
          <a:solidFill>
            <a:srgbClr val="F7F3EA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50392" y="4379976"/>
            <a:ext cx="292608" cy="292608"/>
          </a:xfrm>
          <a:prstGeom prst="round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379976"/>
            <a:ext cx="1828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80" b="1">
                <a:solidFill>
                  <a:srgbClr val="FFFDF8"/>
                </a:solidFill>
                <a:latin typeface="Arial"/>
              </a:rPr>
              <a:t>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16152" y="4370832"/>
            <a:ext cx="896112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70" b="1">
                <a:solidFill>
                  <a:srgbClr val="17304A"/>
                </a:solidFill>
                <a:latin typeface="Arial"/>
              </a:rPr>
              <a:t>공공데이터 + 현지인 경험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395728" y="4297680"/>
            <a:ext cx="1444752" cy="566928"/>
          </a:xfrm>
          <a:prstGeom prst="roundRect">
            <a:avLst/>
          </a:prstGeom>
          <a:solidFill>
            <a:srgbClr val="F7F3EA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2468880" y="4379976"/>
            <a:ext cx="292608" cy="292608"/>
          </a:xfrm>
          <a:prstGeom prst="round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23744" y="4379976"/>
            <a:ext cx="1828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80" b="1">
                <a:solidFill>
                  <a:srgbClr val="FFFDF8"/>
                </a:solidFill>
                <a:latin typeface="Arial"/>
              </a:rPr>
              <a:t>02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34640" y="4370832"/>
            <a:ext cx="896112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70" b="1">
                <a:solidFill>
                  <a:srgbClr val="17304A"/>
                </a:solidFill>
                <a:latin typeface="Arial"/>
              </a:rPr>
              <a:t>Context · AI 추천 · 직접 선택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014216" y="4297680"/>
            <a:ext cx="1444752" cy="566928"/>
          </a:xfrm>
          <a:prstGeom prst="roundRect">
            <a:avLst/>
          </a:prstGeom>
          <a:solidFill>
            <a:srgbClr val="F7F3EA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087368" y="4379976"/>
            <a:ext cx="292608" cy="292608"/>
          </a:xfrm>
          <a:prstGeom prst="round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42232" y="4379976"/>
            <a:ext cx="1828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80" b="1">
                <a:solidFill>
                  <a:srgbClr val="FFFDF8"/>
                </a:solidFill>
                <a:latin typeface="Arial"/>
              </a:rPr>
              <a:t>03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53128" y="4370832"/>
            <a:ext cx="896112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70" b="1">
                <a:solidFill>
                  <a:srgbClr val="17304A"/>
                </a:solidFill>
                <a:latin typeface="Arial"/>
              </a:rPr>
              <a:t>실제 여행 · AI 여행일기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77240" y="5074920"/>
            <a:ext cx="1444752" cy="566928"/>
          </a:xfrm>
          <a:prstGeom prst="roundRect">
            <a:avLst/>
          </a:prstGeom>
          <a:solidFill>
            <a:srgbClr val="F7F3EA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850392" y="5157216"/>
            <a:ext cx="292608" cy="292608"/>
          </a:xfrm>
          <a:prstGeom prst="round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05256" y="5157216"/>
            <a:ext cx="1828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80" b="1">
                <a:solidFill>
                  <a:srgbClr val="FFFDF8"/>
                </a:solidFill>
                <a:latin typeface="Arial"/>
              </a:rPr>
              <a:t>04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16152" y="5148072"/>
            <a:ext cx="896112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70" b="1">
                <a:solidFill>
                  <a:srgbClr val="17304A"/>
                </a:solidFill>
                <a:latin typeface="Arial"/>
              </a:rPr>
              <a:t>공개 후기 · Traveler UGC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395728" y="5074920"/>
            <a:ext cx="1444752" cy="566928"/>
          </a:xfrm>
          <a:prstGeom prst="roundRect">
            <a:avLst/>
          </a:prstGeom>
          <a:solidFill>
            <a:srgbClr val="F7F3EA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2468880" y="5157216"/>
            <a:ext cx="292608" cy="292608"/>
          </a:xfrm>
          <a:prstGeom prst="round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523744" y="5157216"/>
            <a:ext cx="1828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80" b="1">
                <a:solidFill>
                  <a:srgbClr val="FFFDF8"/>
                </a:solidFill>
                <a:latin typeface="Arial"/>
              </a:rPr>
              <a:t>↺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834640" y="5148072"/>
            <a:ext cx="896112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70" b="1">
                <a:solidFill>
                  <a:srgbClr val="17304A"/>
                </a:solidFill>
                <a:latin typeface="Arial"/>
              </a:rPr>
              <a:t>다음 여행자의 추천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77240" y="5879592"/>
            <a:ext cx="4892040" cy="502920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60120" y="5980176"/>
            <a:ext cx="448056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50" b="1">
                <a:solidFill>
                  <a:srgbClr val="2B4D72"/>
                </a:solidFill>
                <a:latin typeface="Arial"/>
              </a:rPr>
              <a:t>비슷한 Context의 만족·재방문 기록부터 다음 추천에 반영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199632" y="1234440"/>
            <a:ext cx="3200400" cy="5074920"/>
          </a:xfrm>
          <a:prstGeom prst="roundRect">
            <a:avLst/>
          </a:prstGeom>
          <a:solidFill>
            <a:srgbClr val="F7F3EA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46520" y="1481328"/>
            <a:ext cx="10972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2B4D72"/>
                </a:solidFill>
                <a:latin typeface="Arial"/>
              </a:rPr>
              <a:t>화면 설명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28232" y="1874519"/>
            <a:ext cx="2697480" cy="694944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6537960" y="1984248"/>
            <a:ext cx="329184" cy="329184"/>
          </a:xfrm>
          <a:prstGeom prst="round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592824" y="1984248"/>
            <a:ext cx="219456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DF8"/>
                </a:solidFill>
                <a:latin typeface="Arial"/>
              </a:rPr>
              <a:t>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58584" y="1947672"/>
            <a:ext cx="2057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30" b="0">
                <a:solidFill>
                  <a:srgbClr val="17304A"/>
                </a:solidFill>
                <a:latin typeface="Arial"/>
              </a:rPr>
              <a:t>공개 기록·추천 활용 동의·비공개 기록·내가 보탠 데이터를 구분한다.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428232" y="2679191"/>
            <a:ext cx="2697480" cy="694944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6537960" y="2788920"/>
            <a:ext cx="329184" cy="329184"/>
          </a:xfrm>
          <a:prstGeom prst="round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592824" y="2788920"/>
            <a:ext cx="219456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DF8"/>
                </a:solidFill>
                <a:latin typeface="Arial"/>
              </a:rPr>
              <a:t>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958584" y="2752344"/>
            <a:ext cx="2057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30" b="0">
                <a:solidFill>
                  <a:srgbClr val="17304A"/>
                </a:solidFill>
                <a:latin typeface="Arial"/>
              </a:rPr>
              <a:t>공공데이터 + 현지인 경험 → Context/AI 추천 → 실제 여행/일기 → Traveler UGC → 다음 추천의 순환을 보여준다.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428232" y="3483863"/>
            <a:ext cx="2697480" cy="694944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6537960" y="3593591"/>
            <a:ext cx="329184" cy="329184"/>
          </a:xfrm>
          <a:prstGeom prst="round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592824" y="3593591"/>
            <a:ext cx="219456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DF8"/>
                </a:solidFill>
                <a:latin typeface="Arial"/>
              </a:rPr>
              <a:t>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958584" y="3557015"/>
            <a:ext cx="2057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30" b="0">
                <a:solidFill>
                  <a:srgbClr val="17304A"/>
                </a:solidFill>
                <a:latin typeface="Arial"/>
              </a:rPr>
              <a:t>비공개 기록은 검색·추천에서 제외한다.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428232" y="4288536"/>
            <a:ext cx="2697480" cy="694944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6537960" y="4398264"/>
            <a:ext cx="329184" cy="329184"/>
          </a:xfrm>
          <a:prstGeom prst="round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592824" y="4398264"/>
            <a:ext cx="219456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DF8"/>
                </a:solidFill>
                <a:latin typeface="Arial"/>
              </a:rPr>
              <a:t>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958584" y="4361688"/>
            <a:ext cx="2057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30" b="0">
                <a:solidFill>
                  <a:srgbClr val="17304A"/>
                </a:solidFill>
                <a:latin typeface="Arial"/>
              </a:rPr>
              <a:t>기획서의 RAG/Local DB/UGC 기반 추천 구조를 사용자에게 설명하는 증거 화면이다.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132320" y="6510528"/>
            <a:ext cx="22860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750" b="0">
                <a:solidFill>
                  <a:srgbClr val="667064"/>
                </a:solidFill>
                <a:latin typeface="Arial"/>
              </a:rPr>
              <a:t>NOVA · 화면설계서 ·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411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F6B5E"/>
                </a:solidFill>
                <a:latin typeface="Arial"/>
              </a:rPr>
              <a:t>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201168"/>
            <a:ext cx="4114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100" b="1">
                <a:solidFill>
                  <a:srgbClr val="17304A"/>
                </a:solidFill>
                <a:latin typeface="Arial"/>
              </a:rPr>
              <a:t>요구사항 ↔ 실제 Prototype 화면 추적표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246888"/>
            <a:ext cx="356616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2B4D72"/>
                </a:solidFill>
                <a:latin typeface="Arial"/>
              </a:rPr>
              <a:t>TRACE  ·  FR/NFR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80467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667064"/>
                </a:solidFill>
                <a:latin typeface="Arial"/>
              </a:rPr>
              <a:t>요구사항 정의서의 기능을 실제 Prototype 화면 ID와 연결했습니다.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33271"/>
            <a:ext cx="8915400" cy="13716"/>
          </a:xfrm>
          <a:prstGeom prst="rect">
            <a:avLst/>
          </a:prstGeom>
          <a:solidFill>
            <a:srgbClr val="D8C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1371600" cy="411480"/>
          </a:xfrm>
          <a:prstGeom prst="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13716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80" b="1">
                <a:solidFill>
                  <a:srgbClr val="FFFDF8"/>
                </a:solidFill>
                <a:latin typeface="Arial"/>
              </a:rPr>
              <a:t>요구사항</a:t>
            </a:r>
          </a:p>
        </p:txBody>
      </p:sp>
      <p:sp>
        <p:nvSpPr>
          <p:cNvPr id="9" name="Rectangle 8"/>
          <p:cNvSpPr/>
          <p:nvPr/>
        </p:nvSpPr>
        <p:spPr>
          <a:xfrm>
            <a:off x="1874519" y="1234440"/>
            <a:ext cx="1920240" cy="411480"/>
          </a:xfrm>
          <a:prstGeom prst="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4519" y="1234440"/>
            <a:ext cx="19202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80" b="1">
                <a:solidFill>
                  <a:srgbClr val="FFFDF8"/>
                </a:solidFill>
                <a:latin typeface="Arial"/>
              </a:rPr>
              <a:t>Prototype 화면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94760" y="1234440"/>
            <a:ext cx="3886200" cy="411480"/>
          </a:xfrm>
          <a:prstGeom prst="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60" y="1234440"/>
            <a:ext cx="38862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80" b="1">
                <a:solidFill>
                  <a:srgbClr val="FFFDF8"/>
                </a:solidFill>
                <a:latin typeface="Arial"/>
              </a:rPr>
              <a:t>반영 기능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0" y="1234440"/>
            <a:ext cx="1234440" cy="411480"/>
          </a:xfrm>
          <a:prstGeom prst="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0" y="1234440"/>
            <a:ext cx="12344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80" b="1">
                <a:solidFill>
                  <a:srgbClr val="FFFDF8"/>
                </a:solidFill>
                <a:latin typeface="Arial"/>
              </a:rPr>
              <a:t>비고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1645920"/>
            <a:ext cx="1371600" cy="539496"/>
          </a:xfrm>
          <a:prstGeom prst="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645920"/>
            <a:ext cx="1280160" cy="5394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70" b="1">
                <a:solidFill>
                  <a:srgbClr val="2B4D72"/>
                </a:solidFill>
                <a:latin typeface="Arial"/>
              </a:rPr>
              <a:t>FR-01~02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74519" y="1645920"/>
            <a:ext cx="1920240" cy="539496"/>
          </a:xfrm>
          <a:prstGeom prst="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20239" y="1645920"/>
            <a:ext cx="1828800" cy="5394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70" b="1">
                <a:solidFill>
                  <a:srgbClr val="17304A"/>
                </a:solidFill>
                <a:latin typeface="Arial"/>
              </a:rPr>
              <a:t>TRIP_01 / PREF_01 / CHAT_01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94760" y="1645920"/>
            <a:ext cx="3886200" cy="539496"/>
          </a:xfrm>
          <a:prstGeom prst="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0" y="1645920"/>
            <a:ext cx="3794760" cy="5394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70" b="0">
                <a:solidFill>
                  <a:srgbClr val="17304A"/>
                </a:solidFill>
                <a:latin typeface="Arial"/>
              </a:rPr>
              <a:t>Context 입력·취향 선택·자연어 대화/태그 추출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80960" y="1645920"/>
            <a:ext cx="1234440" cy="539496"/>
          </a:xfrm>
          <a:prstGeom prst="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26680" y="1645920"/>
            <a:ext cx="1143000" cy="5394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70" b="0">
                <a:solidFill>
                  <a:srgbClr val="17304A"/>
                </a:solidFill>
                <a:latin typeface="Arial"/>
              </a:rPr>
              <a:t>Prototype 구현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2185416"/>
            <a:ext cx="1371600" cy="539496"/>
          </a:xfrm>
          <a:prstGeom prst="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185416"/>
            <a:ext cx="1280160" cy="5394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70" b="1">
                <a:solidFill>
                  <a:srgbClr val="2B4D72"/>
                </a:solidFill>
                <a:latin typeface="Arial"/>
              </a:rPr>
              <a:t>FR-03~05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74519" y="2185416"/>
            <a:ext cx="1920240" cy="539496"/>
          </a:xfrm>
          <a:prstGeom prst="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920239" y="2185416"/>
            <a:ext cx="1828800" cy="5394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70" b="1">
                <a:solidFill>
                  <a:srgbClr val="17304A"/>
                </a:solidFill>
                <a:latin typeface="Arial"/>
              </a:rPr>
              <a:t>EXPLORE_01 / PLACE_01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94760" y="2185416"/>
            <a:ext cx="3886200" cy="539496"/>
          </a:xfrm>
          <a:prstGeom prst="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0" y="2185416"/>
            <a:ext cx="3794760" cy="5394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70" b="0">
                <a:solidFill>
                  <a:srgbClr val="17304A"/>
                </a:solidFill>
                <a:latin typeface="Arial"/>
              </a:rPr>
              <a:t>장소 탐색·상세·현지인 경험 데이터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80960" y="2185416"/>
            <a:ext cx="1234440" cy="539496"/>
          </a:xfrm>
          <a:prstGeom prst="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26680" y="2185416"/>
            <a:ext cx="1143000" cy="5394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70" b="0">
                <a:solidFill>
                  <a:srgbClr val="17304A"/>
                </a:solidFill>
                <a:latin typeface="Arial"/>
              </a:rPr>
              <a:t>Prototype 구현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2724912"/>
            <a:ext cx="1371600" cy="539496"/>
          </a:xfrm>
          <a:prstGeom prst="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2724912"/>
            <a:ext cx="1280160" cy="5394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70" b="1">
                <a:solidFill>
                  <a:srgbClr val="2B4D72"/>
                </a:solidFill>
                <a:latin typeface="Arial"/>
              </a:rPr>
              <a:t>FR-06~08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74519" y="2724912"/>
            <a:ext cx="1920240" cy="539496"/>
          </a:xfrm>
          <a:prstGeom prst="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920239" y="2724912"/>
            <a:ext cx="1828800" cy="5394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70" b="1">
                <a:solidFill>
                  <a:srgbClr val="17304A"/>
                </a:solidFill>
                <a:latin typeface="Arial"/>
              </a:rPr>
              <a:t>CHAT_01 / THEME_01 / RESULT_01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94760" y="2724912"/>
            <a:ext cx="3886200" cy="539496"/>
          </a:xfrm>
          <a:prstGeom prst="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0" y="2724912"/>
            <a:ext cx="3794760" cy="5394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70" b="0">
                <a:solidFill>
                  <a:srgbClr val="17304A"/>
                </a:solidFill>
                <a:latin typeface="Arial"/>
              </a:rPr>
              <a:t>추천 기준 구성·테마·코스 생성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80960" y="2724912"/>
            <a:ext cx="1234440" cy="539496"/>
          </a:xfrm>
          <a:prstGeom prst="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26680" y="2724912"/>
            <a:ext cx="1143000" cy="5394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70" b="0">
                <a:solidFill>
                  <a:srgbClr val="17304A"/>
                </a:solidFill>
                <a:latin typeface="Arial"/>
              </a:rPr>
              <a:t>LLM/API 연결 전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3264408"/>
            <a:ext cx="1371600" cy="539496"/>
          </a:xfrm>
          <a:prstGeom prst="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3264408"/>
            <a:ext cx="1280160" cy="5394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70" b="1">
                <a:solidFill>
                  <a:srgbClr val="2B4D72"/>
                </a:solidFill>
                <a:latin typeface="Arial"/>
              </a:rPr>
              <a:t>FR-09~10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874519" y="3264408"/>
            <a:ext cx="1920240" cy="539496"/>
          </a:xfrm>
          <a:prstGeom prst="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920239" y="3264408"/>
            <a:ext cx="1828800" cy="5394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70" b="1">
                <a:solidFill>
                  <a:srgbClr val="17304A"/>
                </a:solidFill>
                <a:latin typeface="Arial"/>
              </a:rPr>
              <a:t>RESULT_01 / MY_01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794760" y="3264408"/>
            <a:ext cx="3886200" cy="539496"/>
          </a:xfrm>
          <a:prstGeom prst="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840480" y="3264408"/>
            <a:ext cx="3794760" cy="5394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70" b="0">
                <a:solidFill>
                  <a:srgbClr val="17304A"/>
                </a:solidFill>
                <a:latin typeface="Arial"/>
              </a:rPr>
              <a:t>코스 확인·저장·공유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680960" y="3264408"/>
            <a:ext cx="1234440" cy="539496"/>
          </a:xfrm>
          <a:prstGeom prst="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26680" y="3264408"/>
            <a:ext cx="1143000" cy="5394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70" b="0">
                <a:solidFill>
                  <a:srgbClr val="17304A"/>
                </a:solidFill>
                <a:latin typeface="Arial"/>
              </a:rPr>
              <a:t>Prototype 구현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3803904"/>
            <a:ext cx="1371600" cy="539496"/>
          </a:xfrm>
          <a:prstGeom prst="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3803904"/>
            <a:ext cx="1280160" cy="5394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70" b="1">
                <a:solidFill>
                  <a:srgbClr val="2B4D72"/>
                </a:solidFill>
                <a:latin typeface="Arial"/>
              </a:rPr>
              <a:t>FR-11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874519" y="3803904"/>
            <a:ext cx="1920240" cy="539496"/>
          </a:xfrm>
          <a:prstGeom prst="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920239" y="3803904"/>
            <a:ext cx="1828800" cy="5394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70" b="1">
                <a:solidFill>
                  <a:srgbClr val="17304A"/>
                </a:solidFill>
                <a:latin typeface="Arial"/>
              </a:rPr>
              <a:t>RESULT_01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794760" y="3803904"/>
            <a:ext cx="3886200" cy="539496"/>
          </a:xfrm>
          <a:prstGeom prst="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40480" y="3803904"/>
            <a:ext cx="3794760" cy="5394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70" b="0">
                <a:solidFill>
                  <a:srgbClr val="17304A"/>
                </a:solidFill>
                <a:latin typeface="Arial"/>
              </a:rPr>
              <a:t>부분 변경·재추천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680960" y="3803904"/>
            <a:ext cx="1234440" cy="539496"/>
          </a:xfrm>
          <a:prstGeom prst="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726680" y="3803904"/>
            <a:ext cx="1143000" cy="5394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70" b="0">
                <a:solidFill>
                  <a:srgbClr val="17304A"/>
                </a:solidFill>
                <a:latin typeface="Arial"/>
              </a:rPr>
              <a:t>규칙 기반 시연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" y="4343400"/>
            <a:ext cx="1371600" cy="539496"/>
          </a:xfrm>
          <a:prstGeom prst="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48640" y="4343400"/>
            <a:ext cx="1280160" cy="5394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70" b="1">
                <a:solidFill>
                  <a:srgbClr val="2B4D72"/>
                </a:solidFill>
                <a:latin typeface="Arial"/>
              </a:rPr>
              <a:t>UC-04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874519" y="4343400"/>
            <a:ext cx="1920240" cy="539496"/>
          </a:xfrm>
          <a:prstGeom prst="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920239" y="4343400"/>
            <a:ext cx="1828800" cy="5394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70" b="1">
                <a:solidFill>
                  <a:srgbClr val="17304A"/>
                </a:solidFill>
                <a:latin typeface="Arial"/>
              </a:rPr>
              <a:t>TRAVEL_01 / BLOG_01 / MISSION_01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794760" y="4343400"/>
            <a:ext cx="3886200" cy="539496"/>
          </a:xfrm>
          <a:prstGeom prst="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840480" y="4343400"/>
            <a:ext cx="3794760" cy="5394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70" b="0">
                <a:solidFill>
                  <a:srgbClr val="17304A"/>
                </a:solidFill>
                <a:latin typeface="Arial"/>
              </a:rPr>
              <a:t>여행 기록·일기·미션·UGC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680960" y="4343400"/>
            <a:ext cx="1234440" cy="539496"/>
          </a:xfrm>
          <a:prstGeom prst="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726680" y="4343400"/>
            <a:ext cx="1143000" cy="5394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70" b="0">
                <a:solidFill>
                  <a:srgbClr val="17304A"/>
                </a:solidFill>
                <a:latin typeface="Arial"/>
              </a:rPr>
              <a:t>확장 기능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02920" y="4882896"/>
            <a:ext cx="1371600" cy="539496"/>
          </a:xfrm>
          <a:prstGeom prst="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48640" y="4882896"/>
            <a:ext cx="1280160" cy="5394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70" b="1">
                <a:solidFill>
                  <a:srgbClr val="2B4D72"/>
                </a:solidFill>
                <a:latin typeface="Arial"/>
              </a:rPr>
              <a:t>NFR-01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874519" y="4882896"/>
            <a:ext cx="1920240" cy="539496"/>
          </a:xfrm>
          <a:prstGeom prst="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920239" y="4882896"/>
            <a:ext cx="1828800" cy="5394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70" b="1">
                <a:solidFill>
                  <a:srgbClr val="17304A"/>
                </a:solidFill>
                <a:latin typeface="Arial"/>
              </a:rPr>
              <a:t>전체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794760" y="4882896"/>
            <a:ext cx="3886200" cy="539496"/>
          </a:xfrm>
          <a:prstGeom prst="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840480" y="4882896"/>
            <a:ext cx="3794760" cy="5394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70" b="0">
                <a:solidFill>
                  <a:srgbClr val="17304A"/>
                </a:solidFill>
                <a:latin typeface="Arial"/>
              </a:rPr>
              <a:t>반응형 UI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680960" y="4882896"/>
            <a:ext cx="1234440" cy="539496"/>
          </a:xfrm>
          <a:prstGeom prst="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726680" y="4882896"/>
            <a:ext cx="1143000" cy="5394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70" b="0">
                <a:solidFill>
                  <a:srgbClr val="17304A"/>
                </a:solidFill>
                <a:latin typeface="Arial"/>
              </a:rPr>
              <a:t>CSS로 대응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02920" y="5422392"/>
            <a:ext cx="1371600" cy="539496"/>
          </a:xfrm>
          <a:prstGeom prst="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48640" y="5422392"/>
            <a:ext cx="1280160" cy="5394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70" b="1">
                <a:solidFill>
                  <a:srgbClr val="2B4D72"/>
                </a:solidFill>
                <a:latin typeface="Arial"/>
              </a:rPr>
              <a:t>NFR-02~07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874519" y="5422392"/>
            <a:ext cx="1920240" cy="539496"/>
          </a:xfrm>
          <a:prstGeom prst="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920239" y="5422392"/>
            <a:ext cx="1828800" cy="5394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70" b="1">
                <a:solidFill>
                  <a:srgbClr val="17304A"/>
                </a:solidFill>
                <a:latin typeface="Arial"/>
              </a:rPr>
              <a:t>전체 / DATA_01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794760" y="5422392"/>
            <a:ext cx="3886200" cy="539496"/>
          </a:xfrm>
          <a:prstGeom prst="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840480" y="5422392"/>
            <a:ext cx="3794760" cy="5394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70" b="0">
                <a:solidFill>
                  <a:srgbClr val="17304A"/>
                </a:solidFill>
                <a:latin typeface="Arial"/>
              </a:rPr>
              <a:t>데이터·성능·UX·보안·AI 안정성·증거 기반 추천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680960" y="5422392"/>
            <a:ext cx="1234440" cy="539496"/>
          </a:xfrm>
          <a:prstGeom prst="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726680" y="5422392"/>
            <a:ext cx="1143000" cy="5394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70" b="0">
                <a:solidFill>
                  <a:srgbClr val="17304A"/>
                </a:solidFill>
                <a:latin typeface="Arial"/>
              </a:rPr>
              <a:t>실제 연동 전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132320" y="6510528"/>
            <a:ext cx="22860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750" b="0">
                <a:solidFill>
                  <a:srgbClr val="667064"/>
                </a:solidFill>
                <a:latin typeface="Arial"/>
              </a:rPr>
              <a:t>NOVA · 화면설계서 ·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411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F6B5E"/>
                </a:solidFill>
                <a:latin typeface="Arial"/>
              </a:rPr>
              <a:t>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201168"/>
            <a:ext cx="4114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100" b="1">
                <a:solidFill>
                  <a:srgbClr val="17304A"/>
                </a:solidFill>
                <a:latin typeface="Arial"/>
              </a:rPr>
              <a:t>공통 UI/UX 설계 원칙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246888"/>
            <a:ext cx="356616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2B4D72"/>
                </a:solidFill>
                <a:latin typeface="Arial"/>
              </a:rPr>
              <a:t>UI/UX  ·  NFR-01 / NFR-04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80467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667064"/>
                </a:solidFill>
                <a:latin typeface="Arial"/>
              </a:rPr>
              <a:t>실제 Prototype의 브랜드와 상호작용을 화면설계서의 공통 규칙으로 고정합니다.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33271"/>
            <a:ext cx="8915400" cy="13716"/>
          </a:xfrm>
          <a:prstGeom prst="rect">
            <a:avLst/>
          </a:prstGeom>
          <a:solidFill>
            <a:srgbClr val="D8C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298448"/>
            <a:ext cx="3977639" cy="1078992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58952" y="1463039"/>
            <a:ext cx="411480" cy="411480"/>
          </a:xfrm>
          <a:prstGeom prst="roundRect">
            <a:avLst/>
          </a:prstGeom>
          <a:solidFill>
            <a:srgbClr val="E9E1CE"/>
          </a:solidFill>
          <a:ln>
            <a:solidFill>
              <a:srgbClr val="E9E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1463039"/>
            <a:ext cx="301752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2B4D72"/>
                </a:solidFill>
                <a:latin typeface="Arial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463039"/>
            <a:ext cx="118872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2B4D72"/>
                </a:solidFill>
                <a:latin typeface="Arial"/>
              </a:rPr>
              <a:t>브랜드 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783080"/>
            <a:ext cx="29260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40" b="0">
                <a:solidFill>
                  <a:srgbClr val="17304A"/>
                </a:solidFill>
                <a:latin typeface="Arial"/>
              </a:rPr>
              <a:t>아이보리 배경 + 네이비 텍스트 + 코랄 포인트 + 세이지/청록 보조색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1298448"/>
            <a:ext cx="3977639" cy="1078992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102352" y="1463039"/>
            <a:ext cx="411480" cy="411480"/>
          </a:xfrm>
          <a:prstGeom prst="roundRect">
            <a:avLst/>
          </a:prstGeom>
          <a:solidFill>
            <a:srgbClr val="E9E1CE"/>
          </a:solidFill>
          <a:ln>
            <a:solidFill>
              <a:srgbClr val="E9E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57216" y="1463039"/>
            <a:ext cx="301752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2B4D72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1463039"/>
            <a:ext cx="118872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2B4D72"/>
                </a:solidFill>
                <a:latin typeface="Arial"/>
              </a:rPr>
              <a:t>몽포리 중심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1783080"/>
            <a:ext cx="29260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40" b="0">
                <a:solidFill>
                  <a:srgbClr val="17304A"/>
                </a:solidFill>
                <a:latin typeface="Arial"/>
              </a:rPr>
              <a:t>각 핵심 단계에 몽포리 캐릭터/나침반을 배치해 Agent 경험을 일관되게 유지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2715768"/>
            <a:ext cx="3977639" cy="1078992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58952" y="2880360"/>
            <a:ext cx="411480" cy="411480"/>
          </a:xfrm>
          <a:prstGeom prst="roundRect">
            <a:avLst/>
          </a:prstGeom>
          <a:solidFill>
            <a:srgbClr val="E9E1CE"/>
          </a:solidFill>
          <a:ln>
            <a:solidFill>
              <a:srgbClr val="E9E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" y="2880360"/>
            <a:ext cx="301752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2B4D72"/>
                </a:solidFill>
                <a:latin typeface="Arial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880360"/>
            <a:ext cx="118872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2B4D72"/>
                </a:solidFill>
                <a:latin typeface="Arial"/>
              </a:rPr>
              <a:t>에디토리얼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3200400"/>
            <a:ext cx="29260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40" b="0">
                <a:solidFill>
                  <a:srgbClr val="17304A"/>
                </a:solidFill>
                <a:latin typeface="Arial"/>
              </a:rPr>
              <a:t>검색 결과 목록보다 ‘오늘의 여행’이라는 이야기 흐름을 우선한다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37760" y="2715768"/>
            <a:ext cx="3977639" cy="1078992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102352" y="2880360"/>
            <a:ext cx="411480" cy="411480"/>
          </a:xfrm>
          <a:prstGeom prst="roundRect">
            <a:avLst/>
          </a:prstGeom>
          <a:solidFill>
            <a:srgbClr val="E9E1CE"/>
          </a:solidFill>
          <a:ln>
            <a:solidFill>
              <a:srgbClr val="E9E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57216" y="2880360"/>
            <a:ext cx="301752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2B4D72"/>
                </a:solidFill>
                <a:latin typeface="Arial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2880360"/>
            <a:ext cx="118872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2B4D72"/>
                </a:solidFill>
                <a:latin typeface="Arial"/>
              </a:rPr>
              <a:t>근거 표시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3200400"/>
            <a:ext cx="29260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40" b="0">
                <a:solidFill>
                  <a:srgbClr val="17304A"/>
                </a:solidFill>
                <a:latin typeface="Arial"/>
              </a:rPr>
              <a:t>장소 카드에서 추천 이유·현지인 경험 데이터·Traveler UGC를 함께 보여준다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4133087"/>
            <a:ext cx="3977639" cy="1078992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58952" y="4297679"/>
            <a:ext cx="411480" cy="411480"/>
          </a:xfrm>
          <a:prstGeom prst="roundRect">
            <a:avLst/>
          </a:prstGeom>
          <a:solidFill>
            <a:srgbClr val="E9E1CE"/>
          </a:solidFill>
          <a:ln>
            <a:solidFill>
              <a:srgbClr val="E9E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3816" y="4297679"/>
            <a:ext cx="301752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2B4D72"/>
                </a:solidFill>
                <a:latin typeface="Arial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4297679"/>
            <a:ext cx="118872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2B4D72"/>
                </a:solidFill>
                <a:latin typeface="Arial"/>
              </a:rPr>
              <a:t>사용자 선택권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4617720"/>
            <a:ext cx="29260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40" b="0">
                <a:solidFill>
                  <a:srgbClr val="17304A"/>
                </a:solidFill>
                <a:latin typeface="Arial"/>
              </a:rPr>
              <a:t>AI가 후보를 줄이되 장소 선택·코스 변경·공개 여부는 사용자가 결정한다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937760" y="4133087"/>
            <a:ext cx="3977639" cy="1078992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102352" y="4297679"/>
            <a:ext cx="411480" cy="411480"/>
          </a:xfrm>
          <a:prstGeom prst="roundRect">
            <a:avLst/>
          </a:prstGeom>
          <a:solidFill>
            <a:srgbClr val="E9E1CE"/>
          </a:solidFill>
          <a:ln>
            <a:solidFill>
              <a:srgbClr val="E9E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57216" y="4297679"/>
            <a:ext cx="301752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2B4D72"/>
                </a:solidFill>
                <a:latin typeface="Arial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0" y="4297679"/>
            <a:ext cx="118872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2B4D72"/>
                </a:solidFill>
                <a:latin typeface="Arial"/>
              </a:rPr>
              <a:t>DEMO 명시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0" y="4617720"/>
            <a:ext cx="29260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40" b="0">
                <a:solidFill>
                  <a:srgbClr val="17304A"/>
                </a:solidFill>
                <a:latin typeface="Arial"/>
              </a:rPr>
              <a:t>실제 API/운영정보/쿠폰이 아닌 시연 데이터는 화면에서 명확히 표시한다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" y="5623560"/>
            <a:ext cx="8412480" cy="502920"/>
          </a:xfrm>
          <a:prstGeom prst="round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5742432"/>
            <a:ext cx="804672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19" b="1">
                <a:solidFill>
                  <a:srgbClr val="FFFDF8"/>
                </a:solidFill>
                <a:latin typeface="Arial"/>
              </a:rPr>
              <a:t>핵심 경험  발견하고 계획하기 → 여행하며 기록하기 → 나누고 다시 발견하기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0" y="6510528"/>
            <a:ext cx="22860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750" b="0">
                <a:solidFill>
                  <a:srgbClr val="667064"/>
                </a:solidFill>
                <a:latin typeface="Arial"/>
              </a:rPr>
              <a:t>NOVA · 화면설계서 ·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411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F6B5E"/>
                </a:solidFill>
                <a:latin typeface="Arial"/>
              </a:rPr>
              <a:t>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201168"/>
            <a:ext cx="4114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100" b="1">
                <a:solidFill>
                  <a:srgbClr val="17304A"/>
                </a:solidFill>
                <a:latin typeface="Arial"/>
              </a:rPr>
              <a:t>프로토타입 반영 완료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246888"/>
            <a:ext cx="356616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2B4D72"/>
                </a:solidFill>
                <a:latin typeface="Arial"/>
              </a:rPr>
              <a:t>FINAL  ·  -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80467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667064"/>
                </a:solidFill>
                <a:latin typeface="Arial"/>
              </a:rPr>
              <a:t>기존 화면설계서의 추상적인 AI 화면을 실제 Prototype의 화면·문구·메뉴·상호작용으로 교체했습니다.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33271"/>
            <a:ext cx="8915400" cy="13716"/>
          </a:xfrm>
          <a:prstGeom prst="rect">
            <a:avLst/>
          </a:prstGeom>
          <a:solidFill>
            <a:srgbClr val="D8C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8366760" cy="914400"/>
          </a:xfrm>
          <a:prstGeom prst="roundRect">
            <a:avLst/>
          </a:prstGeom>
          <a:solidFill>
            <a:srgbClr val="2B4D72"/>
          </a:solidFill>
          <a:ln>
            <a:solidFill>
              <a:srgbClr val="2B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27048"/>
            <a:ext cx="25603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FFFDF8"/>
                </a:solidFill>
                <a:latin typeface="Arial"/>
              </a:rPr>
              <a:t>실제 Prototype과 일치하는 핵심 화면 흐름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1481328"/>
            <a:ext cx="52120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19" b="1">
                <a:solidFill>
                  <a:srgbClr val="FFFDF8"/>
                </a:solidFill>
                <a:latin typeface="Arial"/>
              </a:rPr>
              <a:t>홈 → 여행 조건 → 취향 → 몽포리 대화 → 테마 → 장소 선택 → 코스 완성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97480"/>
            <a:ext cx="3886200" cy="960120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2852928"/>
            <a:ext cx="9144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2B4D72"/>
                </a:solidFill>
                <a:latin typeface="Arial"/>
              </a:rPr>
              <a:t>기획서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807208"/>
            <a:ext cx="256032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40" b="0">
                <a:solidFill>
                  <a:srgbClr val="17304A"/>
                </a:solidFill>
                <a:latin typeface="Arial"/>
              </a:rPr>
              <a:t>복합 조건 기반 개인화 추천 · Local DB · RAG · UGC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92040" y="2697480"/>
            <a:ext cx="3886200" cy="960120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56632" y="2852928"/>
            <a:ext cx="9144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2B4D72"/>
                </a:solidFill>
                <a:latin typeface="Arial"/>
              </a:rPr>
              <a:t>프로토타입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2807208"/>
            <a:ext cx="256032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40" b="0">
                <a:solidFill>
                  <a:srgbClr val="17304A"/>
                </a:solidFill>
                <a:latin typeface="Arial"/>
              </a:rPr>
              <a:t>실제 화면 구조 · 몽포리 세계관 · 여행 기록 · 미션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931920"/>
            <a:ext cx="3886200" cy="960120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" y="4087368"/>
            <a:ext cx="9144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2B4D72"/>
                </a:solidFill>
                <a:latin typeface="Arial"/>
              </a:rPr>
              <a:t>화면설계서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4041648"/>
            <a:ext cx="256032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40" b="0">
                <a:solidFill>
                  <a:srgbClr val="17304A"/>
                </a:solidFill>
                <a:latin typeface="Arial"/>
              </a:rPr>
              <a:t>각 Prototype 화면을 ID·요구사항·기능 설명과 연결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92040" y="3931920"/>
            <a:ext cx="3886200" cy="960120"/>
          </a:xfrm>
          <a:prstGeom prst="roundRect">
            <a:avLst/>
          </a:prstGeom>
          <a:solidFill>
            <a:srgbClr val="FFFDF8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56632" y="4087368"/>
            <a:ext cx="9144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2B4D72"/>
                </a:solidFill>
                <a:latin typeface="Arial"/>
              </a:rPr>
              <a:t>다음 단계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4041648"/>
            <a:ext cx="256032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40" b="0">
                <a:solidFill>
                  <a:srgbClr val="17304A"/>
                </a:solidFill>
                <a:latin typeface="Arial"/>
              </a:rPr>
              <a:t>실제 LLM/API/지도/운영정보 연결 시 화면 명세 유지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349240"/>
            <a:ext cx="8366760" cy="594360"/>
          </a:xfrm>
          <a:prstGeom prst="roundRect">
            <a:avLst/>
          </a:prstGeom>
          <a:solidFill>
            <a:srgbClr val="F7F3EA"/>
          </a:solidFill>
          <a:ln>
            <a:solidFill>
              <a:srgbClr val="D8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468112"/>
            <a:ext cx="7955279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40" b="0">
                <a:solidFill>
                  <a:srgbClr val="667064"/>
                </a:solidFill>
                <a:latin typeface="Arial"/>
              </a:rPr>
              <a:t>※ 실제 Prototype_1.html의 메뉴·문구·화면 흐름을 기준으로 재작성했으며, 샘플 장소/가격/운영정보는 Prototype의 DEMO 상태를 그대로 표시하도록 설계했습니다.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6510528"/>
            <a:ext cx="22860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750" b="0">
                <a:solidFill>
                  <a:srgbClr val="667064"/>
                </a:solidFill>
                <a:latin typeface="Arial"/>
              </a:rPr>
              <a:t>NOVA · 화면설계서 ·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